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SE_DARK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F90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 DISTRIBUTION  ×  SALESMAX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315200" y="647395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90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SUPER GAUNTLET  |  AUGUST 3, 2026  |  v4.0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14668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88257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461845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35434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09022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82611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56199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829788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103376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376965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50553" y="32004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777874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51463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5051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98640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872228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145817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419405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692994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966582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240171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1513759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787348" y="55943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41080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14668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188257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461845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735434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009022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282611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56199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29788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1103376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1376965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1650553" y="79882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777874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051463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325051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598640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872228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145817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419405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0692994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966582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1240171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1513759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1787348" y="103821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8641080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914668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9188257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9461845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735434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009022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0282611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0556199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0829788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1103376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11376965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1650553" y="127760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8777874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051463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9325051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9598640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9872228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10145817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10419405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10692994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0966582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11240171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11513759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11787348" y="151699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8641080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8914668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9188257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9461845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9735434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10009022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10282611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10556199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10829788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11103376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11376965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11650553" y="1756380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8777874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9051463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9325051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598640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9872228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10145817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10419405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10692994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10966582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11240171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11513759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11787348" y="199576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8641080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8914668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9188257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9461845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9735434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10009022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10282611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10556199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10829788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11103376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11376965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>
            <a:off x="11650553" y="223515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Shape 108"/>
          <p:cNvSpPr/>
          <p:nvPr/>
        </p:nvSpPr>
        <p:spPr>
          <a:xfrm>
            <a:off x="8777874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1" name="Shape 109"/>
          <p:cNvSpPr/>
          <p:nvPr/>
        </p:nvSpPr>
        <p:spPr>
          <a:xfrm>
            <a:off x="9051463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9325051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9598640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9872228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Shape 113"/>
          <p:cNvSpPr/>
          <p:nvPr/>
        </p:nvSpPr>
        <p:spPr>
          <a:xfrm>
            <a:off x="10145817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" name="Shape 114"/>
          <p:cNvSpPr/>
          <p:nvPr/>
        </p:nvSpPr>
        <p:spPr>
          <a:xfrm>
            <a:off x="10419405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" name="Shape 115"/>
          <p:cNvSpPr/>
          <p:nvPr/>
        </p:nvSpPr>
        <p:spPr>
          <a:xfrm>
            <a:off x="10692994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10966582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" name="Shape 117"/>
          <p:cNvSpPr/>
          <p:nvPr/>
        </p:nvSpPr>
        <p:spPr>
          <a:xfrm>
            <a:off x="11240171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0" name="Shape 118"/>
          <p:cNvSpPr/>
          <p:nvPr/>
        </p:nvSpPr>
        <p:spPr>
          <a:xfrm>
            <a:off x="11513759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" name="Shape 119"/>
          <p:cNvSpPr/>
          <p:nvPr/>
        </p:nvSpPr>
        <p:spPr>
          <a:xfrm>
            <a:off x="11787348" y="2474549"/>
            <a:ext cx="310896" cy="270480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" name="Shape 120"/>
          <p:cNvSpPr/>
          <p:nvPr/>
        </p:nvSpPr>
        <p:spPr>
          <a:xfrm>
            <a:off x="502920" y="603504"/>
            <a:ext cx="73152" cy="4526280"/>
          </a:xfrm>
          <a:prstGeom prst="rect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822960" y="713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 × SALESMAX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822960" y="1124712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Inventory Wiring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Open-Source Visual Packet</a:t>
            </a:r>
            <a:endParaRPr lang="en-US" sz="3600" dirty="0"/>
          </a:p>
        </p:txBody>
      </p:sp>
      <p:sp>
        <p:nvSpPr>
          <p:cNvPr id="125" name="Text 123"/>
          <p:cNvSpPr/>
          <p:nvPr/>
        </p:nvSpPr>
        <p:spPr>
          <a:xfrm>
            <a:off x="841248" y="276148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controlled, secure path from SalesMax inventory to pilotsalesdistribution.com</a:t>
            </a:r>
            <a:endParaRPr lang="en-US" sz="1500" dirty="0"/>
          </a:p>
        </p:txBody>
      </p:sp>
      <p:sp>
        <p:nvSpPr>
          <p:cNvPr id="126" name="Text 124"/>
          <p:cNvSpPr/>
          <p:nvPr/>
        </p:nvSpPr>
        <p:spPr>
          <a:xfrm>
            <a:off x="841248" y="3584448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 •  Data controls  •  API contract  •  Security  •  Release gates  •  Deployment handoff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8001000" y="1133856"/>
            <a:ext cx="3127248" cy="658368"/>
          </a:xfrm>
          <a:prstGeom prst="roundRect">
            <a:avLst>
              <a:gd name="adj" fmla="val 16667"/>
            </a:avLst>
          </a:prstGeom>
          <a:solidFill>
            <a:srgbClr val="16263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8183880" y="12801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EB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8659368" y="128016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PRIVATE MASTER</a:t>
            </a:r>
            <a:endParaRPr lang="en-US" sz="1220" dirty="0"/>
          </a:p>
        </p:txBody>
      </p:sp>
      <p:sp>
        <p:nvSpPr>
          <p:cNvPr id="130" name="Shape 128"/>
          <p:cNvSpPr/>
          <p:nvPr/>
        </p:nvSpPr>
        <p:spPr>
          <a:xfrm>
            <a:off x="9564624" y="1828800"/>
            <a:ext cx="0" cy="265176"/>
          </a:xfrm>
          <a:prstGeom prst="line">
            <a:avLst/>
          </a:prstGeom>
          <a:noFill/>
          <a:ln w="1397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8001000" y="2148840"/>
            <a:ext cx="3127248" cy="658368"/>
          </a:xfrm>
          <a:prstGeom prst="roundRect">
            <a:avLst>
              <a:gd name="adj" fmla="val 16667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8183880" y="2295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8659368" y="229514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PUBLISH GATE</a:t>
            </a:r>
            <a:endParaRPr lang="en-US" sz="1220" dirty="0"/>
          </a:p>
        </p:txBody>
      </p:sp>
      <p:sp>
        <p:nvSpPr>
          <p:cNvPr id="134" name="Shape 132"/>
          <p:cNvSpPr/>
          <p:nvPr/>
        </p:nvSpPr>
        <p:spPr>
          <a:xfrm>
            <a:off x="9564624" y="2843784"/>
            <a:ext cx="0" cy="265176"/>
          </a:xfrm>
          <a:prstGeom prst="line">
            <a:avLst/>
          </a:prstGeom>
          <a:noFill/>
          <a:ln w="1397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5" name="Shape 133"/>
          <p:cNvSpPr/>
          <p:nvPr/>
        </p:nvSpPr>
        <p:spPr>
          <a:xfrm>
            <a:off x="8001000" y="3163824"/>
            <a:ext cx="3127248" cy="658368"/>
          </a:xfrm>
          <a:prstGeom prst="roundRect">
            <a:avLst>
              <a:gd name="adj" fmla="val 16667"/>
            </a:avLst>
          </a:prstGeom>
          <a:solidFill>
            <a:srgbClr val="16263D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8183880" y="33101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A66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8659368" y="3310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PUBLIC-ONLY FEED</a:t>
            </a:r>
            <a:endParaRPr lang="en-US" sz="1220" dirty="0"/>
          </a:p>
        </p:txBody>
      </p:sp>
      <p:sp>
        <p:nvSpPr>
          <p:cNvPr id="138" name="Shape 136"/>
          <p:cNvSpPr/>
          <p:nvPr/>
        </p:nvSpPr>
        <p:spPr>
          <a:xfrm>
            <a:off x="9564624" y="3858768"/>
            <a:ext cx="0" cy="265176"/>
          </a:xfrm>
          <a:prstGeom prst="line">
            <a:avLst/>
          </a:prstGeom>
          <a:noFill/>
          <a:ln w="1397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9" name="Shape 137"/>
          <p:cNvSpPr/>
          <p:nvPr/>
        </p:nvSpPr>
        <p:spPr>
          <a:xfrm>
            <a:off x="8001000" y="4178808"/>
            <a:ext cx="3127248" cy="658368"/>
          </a:xfrm>
          <a:prstGeom prst="roundRect">
            <a:avLst>
              <a:gd name="adj" fmla="val 16667"/>
            </a:avLst>
          </a:prstGeom>
          <a:solidFill>
            <a:srgbClr val="16263D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8183880" y="4325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8659368" y="43251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PSE WEBSITE</a:t>
            </a:r>
            <a:endParaRPr lang="en-US" sz="1220" dirty="0"/>
          </a:p>
        </p:txBody>
      </p:sp>
      <p:sp>
        <p:nvSpPr>
          <p:cNvPr id="142" name="Shape 140"/>
          <p:cNvSpPr/>
          <p:nvPr/>
        </p:nvSpPr>
        <p:spPr>
          <a:xfrm>
            <a:off x="822960" y="4791456"/>
            <a:ext cx="6629400" cy="585216"/>
          </a:xfrm>
          <a:prstGeom prst="roundRect">
            <a:avLst>
              <a:gd name="adj" fmla="val 18750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43" name="Text 141"/>
          <p:cNvSpPr/>
          <p:nvPr/>
        </p:nvSpPr>
        <p:spPr>
          <a:xfrm>
            <a:off x="1042416" y="49560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MASTERED GAUNTLET v4.0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2926080" y="4928616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open-source handoff; production still requires repository, hosting and SalesMax runtime access.</a:t>
            </a:r>
            <a:endParaRPr lang="en-US" sz="880" dirty="0"/>
          </a:p>
        </p:txBody>
      </p:sp>
      <p:sp>
        <p:nvSpPr>
          <p:cNvPr id="145" name="Text 143"/>
          <p:cNvSpPr/>
          <p:nvPr/>
        </p:nvSpPr>
        <p:spPr>
          <a:xfrm>
            <a:off x="841248" y="5724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August 3, 2026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edition derived from the verified master gameplan, connected inventory sheets and live website audit.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EXECUTIVE DECISION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Controlled publication - never a direct private-sheet connection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website must consume a buyer-safe public feed through a server-only API.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9616"/>
            <a:ext cx="3685032" cy="4251960"/>
          </a:xfrm>
          <a:prstGeom prst="roundRect">
            <a:avLst>
              <a:gd name="adj" fmla="val 2978"/>
            </a:avLst>
          </a:prstGeom>
          <a:solidFill>
            <a:srgbClr val="612631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1746504"/>
            <a:ext cx="1417320" cy="329184"/>
          </a:xfrm>
          <a:prstGeom prst="roundRect">
            <a:avLst>
              <a:gd name="adj" fmla="val 33333"/>
            </a:avLst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PROHIBITED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Browser / website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77440" y="2898648"/>
            <a:ext cx="0" cy="502920"/>
          </a:xfrm>
          <a:prstGeom prst="line">
            <a:avLst/>
          </a:prstGeom>
          <a:noFill/>
          <a:ln w="29210">
            <a:solidFill>
              <a:srgbClr val="E15B6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24128" y="3447288"/>
            <a:ext cx="2715768" cy="749808"/>
          </a:xfrm>
          <a:prstGeom prst="roundRect">
            <a:avLst>
              <a:gd name="adj" fmla="val 14634"/>
            </a:avLst>
          </a:prstGeom>
          <a:solidFill>
            <a:srgbClr val="16263D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3584" y="369417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Private inventory master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7552" y="2505456"/>
            <a:ext cx="2834640" cy="2057400"/>
          </a:xfrm>
          <a:prstGeom prst="line">
            <a:avLst/>
          </a:prstGeom>
          <a:noFill/>
          <a:ln w="57150">
            <a:solidFill>
              <a:srgbClr val="E15B6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822192" y="2505456"/>
            <a:ext cx="-2834640" cy="2057400"/>
          </a:xfrm>
          <a:prstGeom prst="line">
            <a:avLst/>
          </a:prstGeom>
          <a:noFill/>
          <a:ln w="57150">
            <a:solidFill>
              <a:srgbClr val="E15B6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1832" y="4608576"/>
            <a:ext cx="2862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Leaks credentials, supplier identity, acquisition cost, proof files and unpublished deals.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1499616"/>
            <a:ext cx="7159752" cy="4251960"/>
          </a:xfrm>
          <a:prstGeom prst="roundRect">
            <a:avLst>
              <a:gd name="adj" fmla="val 2581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73168" y="1746504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82896" y="182880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800600" y="2359152"/>
            <a:ext cx="841248" cy="1252728"/>
          </a:xfrm>
          <a:prstGeom prst="roundRect">
            <a:avLst>
              <a:gd name="adj" fmla="val 13043"/>
            </a:avLst>
          </a:prstGeom>
          <a:solidFill>
            <a:srgbClr val="16263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0600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EB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55464" y="2907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intake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641848" y="2980944"/>
            <a:ext cx="128016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797296" y="2359152"/>
            <a:ext cx="841248" cy="1252728"/>
          </a:xfrm>
          <a:prstGeom prst="roundRect">
            <a:avLst>
              <a:gd name="adj" fmla="val 13043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97296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52160" y="2907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638544" y="2980944"/>
            <a:ext cx="128016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793992" y="2359152"/>
            <a:ext cx="841248" cy="1252728"/>
          </a:xfrm>
          <a:prstGeom prst="roundRect">
            <a:avLst>
              <a:gd name="adj" fmla="val 13043"/>
            </a:avLst>
          </a:prstGeom>
          <a:solidFill>
            <a:srgbClr val="16263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93992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EB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8856" y="2907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master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635240" y="2980944"/>
            <a:ext cx="128016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90688" y="2359152"/>
            <a:ext cx="841248" cy="1252728"/>
          </a:xfrm>
          <a:prstGeom prst="roundRect">
            <a:avLst>
              <a:gd name="adj" fmla="val 13043"/>
            </a:avLst>
          </a:prstGeom>
          <a:solidFill>
            <a:srgbClr val="16263D"/>
          </a:solidFill>
          <a:ln w="1016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790688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6DD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45552" y="2907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gate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8631936" y="2980944"/>
            <a:ext cx="128016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787384" y="2359152"/>
            <a:ext cx="841248" cy="1252728"/>
          </a:xfrm>
          <a:prstGeom prst="roundRect">
            <a:avLst>
              <a:gd name="adj" fmla="val 13043"/>
            </a:avLst>
          </a:prstGeom>
          <a:solidFill>
            <a:srgbClr val="16263D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787384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A66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842248" y="2907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feed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628632" y="2980944"/>
            <a:ext cx="128016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784080" y="2359152"/>
            <a:ext cx="841248" cy="1252728"/>
          </a:xfrm>
          <a:prstGeom prst="roundRect">
            <a:avLst>
              <a:gd name="adj" fmla="val 13043"/>
            </a:avLst>
          </a:prstGeom>
          <a:solidFill>
            <a:srgbClr val="16263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784080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EB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838944" y="2907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API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0625328" y="2980944"/>
            <a:ext cx="128016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780776" y="2359152"/>
            <a:ext cx="841248" cy="1252728"/>
          </a:xfrm>
          <a:prstGeom prst="roundRect">
            <a:avLst>
              <a:gd name="adj" fmla="val 13043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0780776" y="252374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835640" y="29077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818888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Non-negotiable rule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18888" y="4352544"/>
            <a:ext cx="6172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browser never receives credentials for, or queries, the private inventory master. Only approved buyer-safe records cross the publication boundary.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4809744" y="5193792"/>
            <a:ext cx="6336792" cy="310896"/>
          </a:xfrm>
          <a:prstGeom prst="roundRect">
            <a:avLst>
              <a:gd name="adj" fmla="val 35294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37760" y="5276088"/>
            <a:ext cx="6071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Protects: suppliers  •  cost/margin  •  proofs  •  owner notes  •  unpublished inventory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PSE x SalesMax Inventory Wiring Master Gameplan, Executive Decision and Target Architecture.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VERIFIED CURRENT STATE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Inventory exists in working files - but nothing is explicitly approved for publication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is not a website grid problem; it is a truth, approval and publication-control problem.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17320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16263D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76656" y="150876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15B6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76656" y="19842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displayed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76656" y="226771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catalog integration is not live.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2724912" y="1417320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16263D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71216" y="150876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71216" y="19842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tracker records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871216" y="226771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12,700 units represented.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4919472" y="1417320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16263D"/>
          </a:solidFill>
          <a:ln w="1016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65776" y="150876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88C4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65776" y="19842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intake rows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5065776" y="226771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/ candidate evidence.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114032" y="1417320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60336" y="150876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0336" y="19842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title clusters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7260336" y="226771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Title-level audit count only.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9308592" y="1417320"/>
            <a:ext cx="2331720" cy="1078992"/>
          </a:xfrm>
          <a:prstGeom prst="roundRect">
            <a:avLst>
              <a:gd name="adj" fmla="val 10169"/>
            </a:avLst>
          </a:prstGeom>
          <a:solidFill>
            <a:srgbClr val="16263D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54896" y="150876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15B6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54896" y="198424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Publish-approved records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9454896" y="2267712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field does not yet exist.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530352" y="2697480"/>
            <a:ext cx="7726680" cy="3319272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p/>
        </p:txBody>
      </p:sp>
      <p:pic>
        <p:nvPicPr>
          <p:cNvPr id="26" name="Image 0" descr="/mnt/data/PSE_SalesMax_Inventory_Wiring_OPEN_SOURCE_SUPER_GAUNTLET_v4.0/01_EXECUTIVE/04_INVENTORY_READINESS_SNAP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816352"/>
            <a:ext cx="7424928" cy="301752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458200" y="2697480"/>
            <a:ext cx="3182112" cy="3319272"/>
          </a:xfrm>
          <a:prstGeom prst="roundRect">
            <a:avLst>
              <a:gd name="adj" fmla="val 3448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732520" y="29443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Readiness defects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732520" y="347472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40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537192" y="351129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beyond first in title clusters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8732520" y="4041648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15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537192" y="40782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without a usable quantity</a:t>
            </a:r>
            <a:endParaRPr lang="en-US" sz="830" dirty="0"/>
          </a:p>
        </p:txBody>
      </p:sp>
      <p:sp>
        <p:nvSpPr>
          <p:cNvPr id="33" name="Text 30"/>
          <p:cNvSpPr/>
          <p:nvPr/>
        </p:nvSpPr>
        <p:spPr>
          <a:xfrm>
            <a:off x="8732520" y="460857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15B6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73/73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537192" y="464515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proof + live availability timestamp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8732520" y="5175504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537192" y="52120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marked Ready internally</a:t>
            </a:r>
            <a:endParaRPr lang="en-US" sz="830" dirty="0"/>
          </a:p>
        </p:txBody>
      </p:sp>
      <p:sp>
        <p:nvSpPr>
          <p:cNvPr id="37" name="Shape 34"/>
          <p:cNvSpPr/>
          <p:nvPr/>
        </p:nvSpPr>
        <p:spPr>
          <a:xfrm>
            <a:off x="8686800" y="5449824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612631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796528" y="5559552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15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≠ sellable inventory</a:t>
            </a:r>
            <a:endParaRPr lang="en-US" sz="810" dirty="0"/>
          </a:p>
        </p:txBody>
      </p:sp>
      <p:sp>
        <p:nvSpPr>
          <p:cNvPr id="39" name="Text 36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live website audit; PSE Wholesale Hub Live Deal Tracker; PSE Caden Share Deal Intake + Outreach Status.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AUDIT FINDINGS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Five defects must be corrected before public inventory can be trusted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defect can create stale, misleading or privately exposed inventory.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81328"/>
            <a:ext cx="3602736" cy="1956816"/>
          </a:xfrm>
          <a:prstGeom prst="roundRect">
            <a:avLst>
              <a:gd name="adj" fmla="val 5607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645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B6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2642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NOW() is not a sync timestamp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731520" y="227685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proves only spreadsheet recalculation - not supplier confirmation, hub sync, API sync or website release.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3383280"/>
            <a:ext cx="3602736" cy="54864"/>
          </a:xfrm>
          <a:prstGeom prst="rect">
            <a:avLst/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97680" y="1481328"/>
            <a:ext cx="3602736" cy="1956816"/>
          </a:xfrm>
          <a:prstGeom prst="roundRect">
            <a:avLst>
              <a:gd name="adj" fmla="val 5607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1645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C4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47488" y="1627632"/>
            <a:ext cx="2642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Dashboard totals are not status-filtered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4498848" y="227685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Sold, Hold or Archived rows could still be counted in “active” totals.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297680" y="3383280"/>
            <a:ext cx="3602736" cy="54864"/>
          </a:xfrm>
          <a:prstGeom prst="rect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65008" y="1481328"/>
            <a:ext cx="3602736" cy="1956816"/>
          </a:xfrm>
          <a:prstGeom prst="roundRect">
            <a:avLst>
              <a:gd name="adj" fmla="val 5607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47888" y="1645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B6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4816" y="1627632"/>
            <a:ext cx="2642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Internal cost is not public selling price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8266176" y="227685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master contains wholesale acquisition cost and market references, not an approved buyer price.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065008" y="3383280"/>
            <a:ext cx="3602736" cy="54864"/>
          </a:xfrm>
          <a:prstGeom prst="rect">
            <a:avLst/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423160" y="3685032"/>
            <a:ext cx="3602736" cy="1956816"/>
          </a:xfrm>
          <a:prstGeom prst="roundRect">
            <a:avLst>
              <a:gd name="adj" fmla="val 5607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06040" y="3849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72968" y="3831336"/>
            <a:ext cx="2642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Publication-control fields are missing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2624328" y="4480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explicit Publish Approved, public slug, MOQ, public image set, freight enum or availability expiry.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423160" y="5586984"/>
            <a:ext cx="3602736" cy="54864"/>
          </a:xfrm>
          <a:prstGeom prst="rect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90488" y="3685032"/>
            <a:ext cx="3602736" cy="1956816"/>
          </a:xfrm>
          <a:prstGeom prst="roundRect">
            <a:avLst>
              <a:gd name="adj" fmla="val 5607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73368" y="3849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C4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0296" y="3831336"/>
            <a:ext cx="2642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Website claims outrun verified data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6391656" y="4480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Filters, ratings, free-shipping language and promotional counters are not reliably sourced from inventory.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190488" y="5586984"/>
            <a:ext cx="3602736" cy="54864"/>
          </a:xfrm>
          <a:prstGeom prst="rect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30352" y="5806440"/>
            <a:ext cx="11137392" cy="310896"/>
          </a:xfrm>
          <a:prstGeom prst="roundRect">
            <a:avLst>
              <a:gd name="adj" fmla="val 29412"/>
            </a:avLst>
          </a:prstGeom>
          <a:solidFill>
            <a:srgbClr val="612631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49808" y="5897880"/>
            <a:ext cx="10698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15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 action: replace blanket claims with feed-backed metrics and product-level freight, availability and inspection terms.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tracker formula audit and live public-site content review, August 3, 2026.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TARGET ARCHITECTURE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controlled path from source evidence to public catalog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isolated stages, one publication boundary, and a separate control-and-recovery plane.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1371600"/>
            <a:ext cx="11356848" cy="4709160"/>
          </a:xfrm>
          <a:prstGeom prst="roundRect">
            <a:avLst>
              <a:gd name="adj" fmla="val 2330"/>
            </a:avLst>
          </a:prstGeom>
          <a:solidFill>
            <a:srgbClr val="0D192A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PSE_SalesMax_Inventory_Wiring_OPEN_SOURCE_SUPER_GAUNTLET_v4.0/01_EXECUTIVE/03_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11137392" cy="4453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46920" y="5852160"/>
            <a:ext cx="1993392" cy="310896"/>
          </a:xfrm>
          <a:prstGeom prst="roundRect">
            <a:avLst>
              <a:gd name="adj" fmla="val 44118"/>
            </a:avLst>
          </a:prstGeom>
          <a:solidFill>
            <a:srgbClr val="16263D"/>
          </a:solidFill>
          <a:ln w="889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720072" y="5925312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LAUNCH PATH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artifact included in the technical handoff packet.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TRUTH HIERARCHY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source of truth at each layer - no competing inventory masters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rows may enter review, but they never bypass reconciliation or approval.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444752"/>
            <a:ext cx="6656832" cy="740664"/>
          </a:xfrm>
          <a:prstGeom prst="roundRect">
            <a:avLst>
              <a:gd name="adj" fmla="val 14815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9536" y="1600200"/>
            <a:ext cx="384048" cy="384048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7053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17320" y="157276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Verified SalesMax Hub 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5968" y="1572768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canonical source after runtime inspection and evidence.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3977640" y="2212848"/>
            <a:ext cx="0" cy="164592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" y="2359152"/>
            <a:ext cx="6656832" cy="740664"/>
          </a:xfrm>
          <a:prstGeom prst="roundRect">
            <a:avLst>
              <a:gd name="adj" fmla="val 14815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9536" y="2514600"/>
            <a:ext cx="384048" cy="384048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9536" y="26197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17320" y="248716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Private Canonical Master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5968" y="2487168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operational truth until the Hub runtime is verified.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3977640" y="3127248"/>
            <a:ext cx="0" cy="164592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8368" y="3273552"/>
            <a:ext cx="6656832" cy="740664"/>
          </a:xfrm>
          <a:prstGeom prst="roundRect">
            <a:avLst>
              <a:gd name="adj" fmla="val 14815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59536" y="3429000"/>
            <a:ext cx="384048" cy="384048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9536" y="35341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17320" y="340156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Separate Public Inventory Feed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15968" y="3401568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only by the controlled publisher.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3977640" y="4041648"/>
            <a:ext cx="0" cy="164592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58368" y="4187952"/>
            <a:ext cx="6656832" cy="740664"/>
          </a:xfrm>
          <a:prstGeom prst="roundRect">
            <a:avLst>
              <a:gd name="adj" fmla="val 14815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59536" y="4343400"/>
            <a:ext cx="384048" cy="384048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59536" y="44485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17320" y="431596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Validated API + cache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15968" y="4315968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buyer-safe distribution layer.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3977640" y="4956048"/>
            <a:ext cx="0" cy="164592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8368" y="5102352"/>
            <a:ext cx="6656832" cy="740664"/>
          </a:xfrm>
          <a:prstGeom prst="roundRect">
            <a:avLst>
              <a:gd name="adj" fmla="val 14815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59536" y="5257800"/>
            <a:ext cx="384048" cy="384048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9536" y="5362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17320" y="523036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pilotsalesdistribution.com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15968" y="5230368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Presentation, search and RFQ - never a data authority.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7635240" y="1444752"/>
            <a:ext cx="3886200" cy="4407408"/>
          </a:xfrm>
          <a:prstGeom prst="roundRect">
            <a:avLst>
              <a:gd name="adj" fmla="val 2824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55280" y="1719072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065008" y="1801368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INTAKE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973568" y="22768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C4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73 historical / candidate rows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101584" y="2825496"/>
            <a:ext cx="2898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contain repeated email replies, auto-replies, stale offers, missing proof, missing quantities and outdated availability.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64624" y="3931920"/>
            <a:ext cx="0" cy="438912"/>
          </a:xfrm>
          <a:prstGeom prst="line">
            <a:avLst/>
          </a:prstGeom>
          <a:noFill/>
          <a:ln w="19050">
            <a:solidFill>
              <a:srgbClr val="E88C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247888" y="443484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394192" y="468172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INTAKE + REVIEW ONLY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73568" y="5376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Deduplication hierarchy: Deal ID → thread ID → UPC/model → supplier SKU → source hash. Fuzzy title match is review-only.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Source-of-truth hierarchy and deduplication rules from the master gameplan.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DATA BOUNDARY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Private operational intelligence stays private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publisher uses a strict allowlist to emit a separate buyer-safe record.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81328"/>
            <a:ext cx="4983480" cy="4407408"/>
          </a:xfrm>
          <a:prstGeom prst="roundRect">
            <a:avLst>
              <a:gd name="adj" fmla="val 2490"/>
            </a:avLst>
          </a:prstGeom>
          <a:solidFill>
            <a:srgbClr val="612631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1764792"/>
            <a:ext cx="1993392" cy="329184"/>
          </a:xfrm>
          <a:prstGeom prst="roundRect">
            <a:avLst>
              <a:gd name="adj" fmla="val 33333"/>
            </a:avLst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50976" y="184708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CANONICAL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2231136"/>
            <a:ext cx="427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Never sent to the public feed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697480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2784348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identity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26080" y="2697480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99232" y="2784348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Acquisition cost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59536" y="3227832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" y="3314700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floor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26080" y="3227832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99232" y="3314700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/ spread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59536" y="3758184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2688" y="3845052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links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926080" y="3758184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99232" y="3845052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identity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59536" y="4288536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2688" y="4375404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notes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26080" y="4288536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99232" y="4375404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instructions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59536" y="4818888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2688" y="4905756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926080" y="4818888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999232" y="4905756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files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675120" y="1481328"/>
            <a:ext cx="4983480" cy="4407408"/>
          </a:xfrm>
          <a:prstGeom prst="roundRect">
            <a:avLst>
              <a:gd name="adj" fmla="val 2490"/>
            </a:avLst>
          </a:prstGeom>
          <a:solidFill>
            <a:srgbClr val="133A36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986016" y="1764792"/>
            <a:ext cx="2029968" cy="329184"/>
          </a:xfrm>
          <a:prstGeom prst="roundRect">
            <a:avLst>
              <a:gd name="adj" fmla="val 33333"/>
            </a:avLst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95744" y="184708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BUYER-SAFE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013448" y="2231136"/>
            <a:ext cx="427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Allowed only after validation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95160" y="2697480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068312" y="2784348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ID + slug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61704" y="2697480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34856" y="2784348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title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995160" y="3227832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068312" y="3314700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061704" y="3227832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134856" y="3314700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995160" y="3758184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068312" y="3845052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to sell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061704" y="3758184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134856" y="3845052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MOQ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95160" y="4288536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068312" y="4375404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price / RFQ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061704" y="4288536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134856" y="4375404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FOB + freight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95160" y="4818888"/>
            <a:ext cx="19202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068312" y="4905756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images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061704" y="4818888"/>
            <a:ext cx="224028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134856" y="4905756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verified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687568" y="2542032"/>
            <a:ext cx="804672" cy="2286000"/>
          </a:xfrm>
          <a:prstGeom prst="roundRect">
            <a:avLst>
              <a:gd name="adj" fmla="val 13636"/>
            </a:avLst>
          </a:prstGeom>
          <a:solidFill>
            <a:srgbClr val="16263D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687568" y="3136392"/>
            <a:ext cx="804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LIST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513832" y="3675888"/>
            <a:ext cx="173736" cy="0"/>
          </a:xfrm>
          <a:prstGeom prst="line">
            <a:avLst/>
          </a:prstGeom>
          <a:noFill/>
          <a:ln w="17780">
            <a:solidFill>
              <a:srgbClr val="E15B6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492240" y="3675888"/>
            <a:ext cx="182880" cy="0"/>
          </a:xfrm>
          <a:prstGeom prst="line">
            <a:avLst/>
          </a:prstGeom>
          <a:noFill/>
          <a:ln w="17780">
            <a:solidFill>
              <a:srgbClr val="24B7A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30352" y="5961888"/>
            <a:ext cx="11128248" cy="219456"/>
          </a:xfrm>
          <a:prstGeom prst="roundRect">
            <a:avLst>
              <a:gd name="adj" fmla="val 33333"/>
            </a:avLst>
          </a:prstGeom>
          <a:solidFill>
            <a:srgbClr val="16263D"/>
          </a:solidFill>
          <a:ln w="762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13232" y="6016752"/>
            <a:ext cx="107716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“Public” tab inside the private workbook is not a sufficient security boundary. Use a separate file or database view.</a:t>
            </a:r>
            <a:endParaRPr lang="en-US" sz="770" dirty="0"/>
          </a:p>
        </p:txBody>
      </p:sp>
      <p:sp>
        <p:nvSpPr>
          <p:cNvPr id="59" name="Text 57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Public/private field boundary and Google-Sheets file-level authorization principle.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PUBLICATION GATE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Every condition must pass - one failure blocks the record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“Ready” is an internal review state. “Publish Approved” is a separate explicit owner decision.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97680" y="2212848"/>
            <a:ext cx="3593592" cy="1956816"/>
          </a:xfrm>
          <a:prstGeom prst="roundRect">
            <a:avLst>
              <a:gd name="adj" fmla="val 5607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681728" y="263347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PUBLISH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APPROVED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02936" y="36758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6407" y="161958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2493" y="166567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4128" y="1472184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= Available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024128" y="170078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Draft, Hold, Sold or Archived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96407" y="2469977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2493" y="2516063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24128" y="2322576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Status = Ready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1024128" y="255117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operational verification complete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40080" y="3182112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6407" y="332036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2493" y="336645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4128" y="3172968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To Sell &gt; 0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024128" y="340156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hand minus reserved inventory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40080" y="4032504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96407" y="417076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42493" y="421684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24128" y="402336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window valid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1024128" y="425196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availability is not stale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40080" y="4882896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96407" y="502115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2493" y="506723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24128" y="4873752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blocking issue open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1024128" y="510235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 contains no P0 blocker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8138160" y="1481328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194487" y="161958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240573" y="166567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522208" y="1472184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terms complete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8522208" y="170078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category, condition, MOQ and FOB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8138160" y="2331720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194487" y="2469977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240573" y="2516063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522208" y="2322576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pricing mode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8522208" y="255117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Public, Login or RFQ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8138160" y="3182112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194487" y="332036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240573" y="336645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522208" y="3172968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Freight terms approved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8522208" y="340156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blanket shipping assumptions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8138160" y="4032504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194487" y="417076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8240573" y="421684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522208" y="402336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images exist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8522208" y="42519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Buyer-safe media only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8138160" y="4882896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8194487" y="502115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240573" y="506723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22208" y="487375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owner approval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8522208" y="510235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Approved = TRUE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3977640" y="3163824"/>
            <a:ext cx="320040" cy="0"/>
          </a:xfrm>
          <a:prstGeom prst="line">
            <a:avLst/>
          </a:prstGeom>
          <a:noFill/>
          <a:ln w="19050">
            <a:solidFill>
              <a:srgbClr val="1FA7C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891272" y="3163824"/>
            <a:ext cx="246888" cy="0"/>
          </a:xfrm>
          <a:prstGeom prst="line">
            <a:avLst/>
          </a:prstGeom>
          <a:noFill/>
          <a:ln w="19050">
            <a:solidFill>
              <a:srgbClr val="24B7A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3858768" y="4937760"/>
            <a:ext cx="4443984" cy="603504"/>
          </a:xfrm>
          <a:prstGeom prst="roundRect">
            <a:avLst>
              <a:gd name="adj" fmla="val 18182"/>
            </a:avLst>
          </a:prstGeom>
          <a:solidFill>
            <a:srgbClr val="612631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096512" y="515721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15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SINGLE FAILURE = DO NOT PUBLISH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boundary rules from the master gameplan and public JSON schema.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FRESHNESS AND INVENTORY LIFECYCLE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Visibility changes automatically as availability ages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 per-record expiration timestamp; never infer freshness from a dashboard clock.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11D30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764792"/>
            <a:ext cx="2313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6A6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0-24 HOURS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8096" y="22128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AVAILABLE / LIMITED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2104" y="2715768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according to available-to-sell.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227832" y="2532888"/>
            <a:ext cx="164592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29000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11D30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75304" y="1764792"/>
            <a:ext cx="2313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24-72 HOURS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75304" y="22128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CONFIRM AVAILABILITY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9312" y="2715768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RFQ only; no instant commitment.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035040" y="2532888"/>
            <a:ext cx="164592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36208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11D30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82512" y="1764792"/>
            <a:ext cx="2313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5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72 HOURS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82512" y="22128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AUTO-UNPUBLISH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2715768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Reconfirmation required before return.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842248" y="2532888"/>
            <a:ext cx="164592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43416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11D30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89720" y="1764792"/>
            <a:ext cx="2313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5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SOLD / WITHDRAWN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89720" y="2212848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REMOVE IMMEDIATELY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53728" y="2715768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new snapshot and invalidate cache.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21792" y="3840480"/>
            <a:ext cx="5257800" cy="1536192"/>
          </a:xfrm>
          <a:prstGeom prst="roundRect">
            <a:avLst>
              <a:gd name="adj" fmla="val 7143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96112" y="408736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Available-to-sell calculation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6112" y="4663440"/>
            <a:ext cx="1325880" cy="338328"/>
          </a:xfrm>
          <a:prstGeom prst="roundRect">
            <a:avLst>
              <a:gd name="adj" fmla="val 32432"/>
            </a:avLst>
          </a:prstGeom>
          <a:solidFill>
            <a:srgbClr val="183A5C"/>
          </a:solidFill>
          <a:ln w="12700">
            <a:solidFill>
              <a:srgbClr val="183A5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9264" y="4750308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ON HAND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331720" y="473659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97480" y="4663440"/>
            <a:ext cx="1115568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70632" y="475030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22776" y="473659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=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61104" y="4663440"/>
            <a:ext cx="1298448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34256" y="475030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99048" y="3840480"/>
            <a:ext cx="5468112" cy="1536192"/>
          </a:xfrm>
          <a:prstGeom prst="roundRect">
            <a:avLst>
              <a:gd name="adj" fmla="val 7143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82512" y="408736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Phase 1 commercial rule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82512" y="4526280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RFQ does not decrement inventory. Sales confirms availability, then creates a controlled hold before making a commitment.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79408" y="5010912"/>
            <a:ext cx="2221992" cy="310896"/>
          </a:xfrm>
          <a:prstGeom prst="roundRect">
            <a:avLst>
              <a:gd name="adj" fmla="val 44118"/>
            </a:avLst>
          </a:prstGeom>
          <a:solidFill>
            <a:srgbClr val="133A36"/>
          </a:solidFill>
          <a:ln w="889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52560" y="5084064"/>
            <a:ext cx="2075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CHECKOUT YET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launch freshness policy; thresholds may be tightened for faster-moving deals.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PUBLIC API CONTRACT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read-only, schema-validated storefront interface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API serves only the public feed; internal revalidation is signed and isolated.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3730752" cy="4407408"/>
          </a:xfrm>
          <a:prstGeom prst="roundRect">
            <a:avLst>
              <a:gd name="adj" fmla="val 2941"/>
            </a:avLst>
          </a:prstGeom>
          <a:solidFill>
            <a:srgbClr val="0D192A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64792"/>
            <a:ext cx="1645920" cy="329184"/>
          </a:xfrm>
          <a:prstGeom prst="roundRect">
            <a:avLst>
              <a:gd name="adj" fmla="val 33333"/>
            </a:avLst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184708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ENDPOINTS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713232" cy="338328"/>
          </a:xfrm>
          <a:prstGeom prst="roundRect">
            <a:avLst>
              <a:gd name="adj" fmla="val 32432"/>
            </a:avLst>
          </a:prstGeom>
          <a:solidFill>
            <a:srgbClr val="183A5C"/>
          </a:solidFill>
          <a:ln w="12700">
            <a:solidFill>
              <a:srgbClr val="183A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41832" y="2418588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37360" y="24048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/api/inventory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68680" y="2953512"/>
            <a:ext cx="713232" cy="338328"/>
          </a:xfrm>
          <a:prstGeom prst="roundRect">
            <a:avLst>
              <a:gd name="adj" fmla="val 32432"/>
            </a:avLst>
          </a:prstGeom>
          <a:solidFill>
            <a:srgbClr val="183A5C"/>
          </a:solidFill>
          <a:ln w="12700">
            <a:solidFill>
              <a:srgbClr val="183A5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1832" y="304038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37360" y="30266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/api/inventory/{slug}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68680" y="3575304"/>
            <a:ext cx="713232" cy="338328"/>
          </a:xfrm>
          <a:prstGeom prst="roundRect">
            <a:avLst>
              <a:gd name="adj" fmla="val 32432"/>
            </a:avLst>
          </a:prstGeom>
          <a:solidFill>
            <a:srgbClr val="4E2631"/>
          </a:solidFill>
          <a:ln w="12700">
            <a:solidFill>
              <a:srgbClr val="4E263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41832" y="3662172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0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37360" y="3648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/api/internal/inventory/revalidate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877824" y="434340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POST is signed, rate-limited and never browser-callable.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49194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Response metadata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" y="5303520"/>
            <a:ext cx="850392" cy="338328"/>
          </a:xfrm>
          <a:prstGeom prst="roundRect">
            <a:avLst>
              <a:gd name="adj" fmla="val 32432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0976" y="5390388"/>
            <a:ext cx="704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37944" y="5303520"/>
            <a:ext cx="850392" cy="338328"/>
          </a:xfrm>
          <a:prstGeom prst="roundRect">
            <a:avLst>
              <a:gd name="adj" fmla="val 32432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911096" y="5390388"/>
            <a:ext cx="704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98064" y="5303520"/>
            <a:ext cx="850392" cy="338328"/>
          </a:xfrm>
          <a:prstGeom prst="roundRect">
            <a:avLst>
              <a:gd name="adj" fmla="val 32432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871216" y="5390388"/>
            <a:ext cx="704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sourceVersion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77824" y="5715000"/>
            <a:ext cx="850392" cy="338328"/>
          </a:xfrm>
          <a:prstGeom prst="roundRect">
            <a:avLst>
              <a:gd name="adj" fmla="val 32432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50976" y="5801868"/>
            <a:ext cx="704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837944" y="5715000"/>
            <a:ext cx="850392" cy="338328"/>
          </a:xfrm>
          <a:prstGeom prst="roundRect">
            <a:avLst>
              <a:gd name="adj" fmla="val 32432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911096" y="5801868"/>
            <a:ext cx="704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nextCursor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98064" y="5715000"/>
            <a:ext cx="850392" cy="338328"/>
          </a:xfrm>
          <a:prstGeom prst="roundRect">
            <a:avLst>
              <a:gd name="adj" fmla="val 32432"/>
            </a:avLst>
          </a:prstGeom>
          <a:solidFill>
            <a:srgbClr val="16263D"/>
          </a:solidFill>
          <a:ln w="12700">
            <a:solidFill>
              <a:srgbClr val="16263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871216" y="5801868"/>
            <a:ext cx="704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53712" y="1481328"/>
            <a:ext cx="7086600" cy="2240280"/>
          </a:xfrm>
          <a:prstGeom prst="roundRect">
            <a:avLst>
              <a:gd name="adj" fmla="val 4898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1764792"/>
            <a:ext cx="1783080" cy="329184"/>
          </a:xfrm>
          <a:prstGeom prst="roundRect">
            <a:avLst>
              <a:gd name="adj" fmla="val 33333"/>
            </a:avLst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56048" y="1847088"/>
            <a:ext cx="1563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PIPELINE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800600" y="2377440"/>
            <a:ext cx="1152144" cy="713232"/>
          </a:xfrm>
          <a:prstGeom prst="roundRect">
            <a:avLst>
              <a:gd name="adj" fmla="val 15385"/>
            </a:avLst>
          </a:prstGeom>
          <a:solidFill>
            <a:srgbClr val="16263D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873752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feed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952744" y="2734056"/>
            <a:ext cx="137160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117336" y="2377440"/>
            <a:ext cx="1152144" cy="713232"/>
          </a:xfrm>
          <a:prstGeom prst="roundRect">
            <a:avLst>
              <a:gd name="adj" fmla="val 15385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190488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validate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269480" y="2734056"/>
            <a:ext cx="137160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434072" y="2377440"/>
            <a:ext cx="1152144" cy="713232"/>
          </a:xfrm>
          <a:prstGeom prst="roundRect">
            <a:avLst>
              <a:gd name="adj" fmla="val 15385"/>
            </a:avLst>
          </a:prstGeom>
          <a:solidFill>
            <a:srgbClr val="16263D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507224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allowlist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586216" y="2734056"/>
            <a:ext cx="137160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750808" y="2377440"/>
            <a:ext cx="1152144" cy="713232"/>
          </a:xfrm>
          <a:prstGeom prst="roundRect">
            <a:avLst>
              <a:gd name="adj" fmla="val 15385"/>
            </a:avLst>
          </a:prstGeom>
          <a:solidFill>
            <a:srgbClr val="16263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82396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+ ETag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9902952" y="2734056"/>
            <a:ext cx="137160" cy="0"/>
          </a:xfrm>
          <a:prstGeom prst="line">
            <a:avLst/>
          </a:prstGeom>
          <a:noFill/>
          <a:ln w="1270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067544" y="2377440"/>
            <a:ext cx="1152144" cy="713232"/>
          </a:xfrm>
          <a:prstGeom prst="roundRect">
            <a:avLst>
              <a:gd name="adj" fmla="val 15385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140696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553712" y="3959352"/>
            <a:ext cx="7086600" cy="1929384"/>
          </a:xfrm>
          <a:prstGeom prst="roundRect">
            <a:avLst>
              <a:gd name="adj" fmla="val 5687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846320" y="422452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API operating controls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4846320" y="4645152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902647" y="478340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948733" y="482949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230368" y="463600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bounded batch read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8028432" y="4645152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084759" y="478340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8130845" y="482949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412480" y="463600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Pagination + size limits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4846320" y="5038344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902647" y="517660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948733" y="522268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230368" y="50292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limits + timeouts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8028432" y="5038344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8084759" y="517660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8130845" y="522268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412480" y="50292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 backoff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4846320" y="5431536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902647" y="556979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948733" y="561587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30368" y="542239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malformed snapshots</a:t>
            </a:r>
            <a:endParaRPr lang="en-US" sz="930" dirty="0"/>
          </a:p>
        </p:txBody>
      </p:sp>
      <p:sp>
        <p:nvSpPr>
          <p:cNvPr id="70" name="Shape 68"/>
          <p:cNvSpPr/>
          <p:nvPr/>
        </p:nvSpPr>
        <p:spPr>
          <a:xfrm>
            <a:off x="8028432" y="5431536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8084759" y="556979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8130845" y="561587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8412480" y="542239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expose sheet credentials</a:t>
            </a:r>
            <a:endParaRPr lang="en-US" sz="930" dirty="0"/>
          </a:p>
        </p:txBody>
      </p:sp>
      <p:sp>
        <p:nvSpPr>
          <p:cNvPr id="74" name="Text 72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Artifacts: public_inventory_item.schema.json and public_inventory_api.openapi.yaml. OpenAPI is an open standard, not OpenAI.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WEBSITE EXPERIENCE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storefront becomes a truthful catalog and RFQ engine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real fields only; hide unsupported filters, ratings and blanket claims.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749040" cy="4553712"/>
          </a:xfrm>
          <a:prstGeom prst="roundRect">
            <a:avLst>
              <a:gd name="adj" fmla="val 2927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32104" y="1737360"/>
            <a:ext cx="3218688" cy="1609344"/>
          </a:xfrm>
          <a:prstGeom prst="roundRect">
            <a:avLst>
              <a:gd name="adj" fmla="val 6818"/>
            </a:avLst>
          </a:prstGeom>
          <a:solidFill>
            <a:srgbClr val="16314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51560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52728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53896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55064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856232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057400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58568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459736" y="1901952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52144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353312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554480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755648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956816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157984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359152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560320" y="2077974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51560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252728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453896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655064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856232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057400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258568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459736" y="2253996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152144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353312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554480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755648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956816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157984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359152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1FA7C9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560320" y="2430018"/>
            <a:ext cx="228600" cy="198882"/>
          </a:xfrm>
          <a:prstGeom prst="hexagon">
            <a:avLst/>
          </a:prstGeom>
          <a:solidFill>
            <a:srgbClr val="08111F">
              <a:alpha val="0"/>
            </a:srgbClr>
          </a:solidFill>
          <a:ln w="7620">
            <a:solidFill>
              <a:srgbClr val="36506E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51560" y="240487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E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PRODUCT IMAGE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32688" y="3529584"/>
            <a:ext cx="896112" cy="310896"/>
          </a:xfrm>
          <a:prstGeom prst="roundRect">
            <a:avLst>
              <a:gd name="adj" fmla="val 44118"/>
            </a:avLst>
          </a:prstGeom>
          <a:solidFill>
            <a:srgbClr val="133A36"/>
          </a:solidFill>
          <a:ln w="889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05840" y="360273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6A6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932688" y="39776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Buyer-safe product title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32688" y="44165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MOQ 500  •  FOB Los Angeles  •  Last verified 4h ago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932688" y="5138928"/>
            <a:ext cx="2834640" cy="384048"/>
          </a:xfrm>
          <a:prstGeom prst="rect">
            <a:avLst/>
          </a:prstGeom>
          <a:solidFill>
            <a:srgbClr val="24B7A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Request Quote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53712" y="1463040"/>
            <a:ext cx="7086600" cy="4553712"/>
          </a:xfrm>
          <a:prstGeom prst="roundRect">
            <a:avLst>
              <a:gd name="adj" fmla="val 2410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28032" y="1764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Catalog + detail pages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28032" y="2203704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884359" y="234196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930445" y="238804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212080" y="219456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slug URLs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4828032" y="2642616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884359" y="278087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930445" y="282695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212080" y="26334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/ category / MOQ only from real fields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4828032" y="3081528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884359" y="321978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4930445" y="326587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212080" y="307238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last verified, FOB and freight terms</a:t>
            </a:r>
            <a:endParaRPr lang="en-US" sz="930" dirty="0"/>
          </a:p>
        </p:txBody>
      </p:sp>
      <p:sp>
        <p:nvSpPr>
          <p:cNvPr id="59" name="Text 57"/>
          <p:cNvSpPr/>
          <p:nvPr/>
        </p:nvSpPr>
        <p:spPr>
          <a:xfrm>
            <a:off x="8211312" y="1764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RFQ integration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211312" y="2203704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8267639" y="234196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8313725" y="238804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595360" y="219456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Prefill Deal ID, title, quantity and source version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8211312" y="2642616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8267639" y="278087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8313725" y="282695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595360" y="26334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inventory decrement in Phase 1</a:t>
            </a:r>
            <a:endParaRPr lang="en-US" sz="930" dirty="0"/>
          </a:p>
        </p:txBody>
      </p:sp>
      <p:sp>
        <p:nvSpPr>
          <p:cNvPr id="68" name="Shape 66"/>
          <p:cNvSpPr/>
          <p:nvPr/>
        </p:nvSpPr>
        <p:spPr>
          <a:xfrm>
            <a:off x="8211312" y="3081528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8267639" y="321978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8313725" y="326587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595360" y="307238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creates a confirmed hold</a:t>
            </a:r>
            <a:endParaRPr lang="en-US" sz="930" dirty="0"/>
          </a:p>
        </p:txBody>
      </p:sp>
      <p:sp>
        <p:nvSpPr>
          <p:cNvPr id="72" name="Text 70"/>
          <p:cNvSpPr/>
          <p:nvPr/>
        </p:nvSpPr>
        <p:spPr>
          <a:xfrm>
            <a:off x="4828032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Homepage metrics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4828032" y="4325112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4884359" y="446336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4930445" y="450945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212080" y="431596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deals</a:t>
            </a:r>
            <a:endParaRPr lang="en-US" sz="930" dirty="0"/>
          </a:p>
        </p:txBody>
      </p:sp>
      <p:sp>
        <p:nvSpPr>
          <p:cNvPr id="77" name="Shape 75"/>
          <p:cNvSpPr/>
          <p:nvPr/>
        </p:nvSpPr>
        <p:spPr>
          <a:xfrm>
            <a:off x="4828032" y="4764024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884359" y="490228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4930445" y="494836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5212080" y="4754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currently available</a:t>
            </a:r>
            <a:endParaRPr lang="en-US" sz="930" dirty="0"/>
          </a:p>
        </p:txBody>
      </p:sp>
      <p:sp>
        <p:nvSpPr>
          <p:cNvPr id="81" name="Shape 79"/>
          <p:cNvSpPr/>
          <p:nvPr/>
        </p:nvSpPr>
        <p:spPr>
          <a:xfrm>
            <a:off x="4828032" y="5202936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4884359" y="534119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4930445" y="538727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212080" y="519379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 represented</a:t>
            </a:r>
            <a:endParaRPr lang="en-US" sz="930" dirty="0"/>
          </a:p>
        </p:txBody>
      </p:sp>
      <p:sp>
        <p:nvSpPr>
          <p:cNvPr id="85" name="Shape 83"/>
          <p:cNvSpPr/>
          <p:nvPr/>
        </p:nvSpPr>
        <p:spPr>
          <a:xfrm>
            <a:off x="4828032" y="5641848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4884359" y="578010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4930445" y="582619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5212080" y="56327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inventory verification</a:t>
            </a:r>
            <a:endParaRPr lang="en-US" sz="930" dirty="0"/>
          </a:p>
        </p:txBody>
      </p:sp>
      <p:sp>
        <p:nvSpPr>
          <p:cNvPr id="89" name="Text 87"/>
          <p:cNvSpPr/>
          <p:nvPr/>
        </p:nvSpPr>
        <p:spPr>
          <a:xfrm>
            <a:off x="8211312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SEO + claims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8211312" y="4325112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8267639" y="446336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8313725" y="450945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8595360" y="431596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/ Offer JSON-LD from the same record</a:t>
            </a:r>
            <a:endParaRPr lang="en-US" sz="930" dirty="0"/>
          </a:p>
        </p:txBody>
      </p:sp>
      <p:sp>
        <p:nvSpPr>
          <p:cNvPr id="94" name="Shape 92"/>
          <p:cNvSpPr/>
          <p:nvPr/>
        </p:nvSpPr>
        <p:spPr>
          <a:xfrm>
            <a:off x="8211312" y="4764024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8267639" y="490228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8313725" y="494836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8595360" y="4754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RFQ items never invent a price</a:t>
            </a:r>
            <a:endParaRPr lang="en-US" sz="930" dirty="0"/>
          </a:p>
        </p:txBody>
      </p:sp>
      <p:sp>
        <p:nvSpPr>
          <p:cNvPr id="98" name="Shape 96"/>
          <p:cNvSpPr/>
          <p:nvPr/>
        </p:nvSpPr>
        <p:spPr>
          <a:xfrm>
            <a:off x="8211312" y="5202936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8267639" y="534119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8313725" y="538727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8595360" y="519379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 ratings and testimonials without evidence</a:t>
            </a:r>
            <a:endParaRPr lang="en-US" sz="930" dirty="0"/>
          </a:p>
        </p:txBody>
      </p:sp>
      <p:sp>
        <p:nvSpPr>
          <p:cNvPr id="102" name="Shape 100"/>
          <p:cNvSpPr/>
          <p:nvPr/>
        </p:nvSpPr>
        <p:spPr>
          <a:xfrm>
            <a:off x="4828032" y="5559552"/>
            <a:ext cx="6446520" cy="256032"/>
          </a:xfrm>
          <a:prstGeom prst="roundRect">
            <a:avLst>
              <a:gd name="adj" fmla="val 28571"/>
            </a:avLst>
          </a:prstGeom>
          <a:solidFill>
            <a:srgbClr val="612631"/>
          </a:solidFill>
          <a:ln w="762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5029200" y="5632704"/>
            <a:ext cx="6053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15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enable cart checkout until inventory holds and order commitment are implemented.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catalog, RFQ, homepage metric and structured-data requirements from the master gameplan.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SECURITY AND ACCESS MODEL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Separate publisher and storefront identities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storefront receives read-only access to the public feed - nothing else.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85216" y="1481328"/>
            <a:ext cx="3255264" cy="2066544"/>
          </a:xfrm>
          <a:prstGeom prst="roundRect">
            <a:avLst>
              <a:gd name="adj" fmla="val 5310"/>
            </a:avLst>
          </a:prstGeom>
          <a:solidFill>
            <a:srgbClr val="111D30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755648"/>
            <a:ext cx="1591056" cy="329184"/>
          </a:xfrm>
          <a:prstGeom prst="roundRect">
            <a:avLst>
              <a:gd name="adj" fmla="val 33333"/>
            </a:avLst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8379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A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77824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Inventory Publisher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77063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private master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public feed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 publish log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43984" y="1481328"/>
            <a:ext cx="3255264" cy="2066544"/>
          </a:xfrm>
          <a:prstGeom prst="roundRect">
            <a:avLst>
              <a:gd name="adj" fmla="val 5310"/>
            </a:avLst>
          </a:prstGeom>
          <a:solidFill>
            <a:srgbClr val="111D30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36592" y="1755648"/>
            <a:ext cx="1591056" cy="329184"/>
          </a:xfrm>
          <a:prstGeom prst="roundRect">
            <a:avLst>
              <a:gd name="adj" fmla="val 33333"/>
            </a:avLst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46320" y="18379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B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736592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Storefront Reader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77063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public feed only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private master access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by website server runtime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02752" y="1481328"/>
            <a:ext cx="3255264" cy="2066544"/>
          </a:xfrm>
          <a:prstGeom prst="roundRect">
            <a:avLst>
              <a:gd name="adj" fmla="val 5310"/>
            </a:avLst>
          </a:prstGeom>
          <a:solidFill>
            <a:srgbClr val="612631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95360" y="1755648"/>
            <a:ext cx="1591056" cy="329184"/>
          </a:xfrm>
          <a:prstGeom prst="roundRect">
            <a:avLst>
              <a:gd name="adj" fmla="val 33333"/>
            </a:avLst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05088" y="18379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595360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Client Browser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05088" y="277063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sheet credentials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private sheet 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internal revalidation secret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5216" y="3822192"/>
            <a:ext cx="10972800" cy="1975104"/>
          </a:xfrm>
          <a:prstGeom prst="roundRect">
            <a:avLst>
              <a:gd name="adj" fmla="val 5556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Mandatory controls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7824" y="4590288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4151" y="472854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80237" y="477463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61872" y="4581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Least-privilege scopes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3547872" y="4590288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04199" y="472854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50285" y="477463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931920" y="4581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encrypted secrets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217920" y="4590288"/>
            <a:ext cx="256032" cy="256032"/>
          </a:xfrm>
          <a:prstGeom prst="ellipse">
            <a:avLst/>
          </a:prstGeom>
          <a:solidFill>
            <a:srgbClr val="2C7EB7"/>
          </a:solidFill>
          <a:ln w="1270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274247" y="472854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320333" y="477463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01968" y="4581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 unavoidable keys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887968" y="4590288"/>
            <a:ext cx="256032" cy="256032"/>
          </a:xfrm>
          <a:prstGeom prst="ellipse">
            <a:avLst/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944295" y="472854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990381" y="477463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272016" y="4581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allowlist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877824" y="5111496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34151" y="524975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80237" y="529583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61872" y="5102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 restrictions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3547872" y="5111496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604199" y="524975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650285" y="529583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931920" y="5102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Replay-protected signatures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217920" y="5111496"/>
            <a:ext cx="256032" cy="256032"/>
          </a:xfrm>
          <a:prstGeom prst="ellipse">
            <a:avLst/>
          </a:prstGeom>
          <a:solidFill>
            <a:srgbClr val="2C7EB7"/>
          </a:solidFill>
          <a:ln w="1270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274247" y="524975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320333" y="529583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601968" y="5102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Image-host allowlist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8887968" y="5111496"/>
            <a:ext cx="256032" cy="256032"/>
          </a:xfrm>
          <a:prstGeom prst="ellipse">
            <a:avLst/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944295" y="524975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8990381" y="529583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272016" y="5102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stack traces / IDs in errors</a:t>
            </a:r>
            <a:endParaRPr lang="en-US" sz="930" dirty="0"/>
          </a:p>
        </p:txBody>
      </p:sp>
      <p:sp>
        <p:nvSpPr>
          <p:cNvPr id="54" name="Text 52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model aligned with Google Cloud IAM guidance and OWASP API Security controls.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SYNC, CACHE AND OUTAGE BEHAVIOR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Publish atomically, validate completely, preserve last-known-good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malformed or empty output must never replace a valid public snapshot.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72184"/>
            <a:ext cx="11137392" cy="2212848"/>
          </a:xfrm>
          <a:prstGeom prst="roundRect">
            <a:avLst>
              <a:gd name="adj" fmla="val 4959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755648"/>
            <a:ext cx="1700784" cy="329184"/>
          </a:xfrm>
          <a:prstGeom prst="roundRect">
            <a:avLst>
              <a:gd name="adj" fmla="val 33333"/>
            </a:avLst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" y="183794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SEQUENCE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841248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1865376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002536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75688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93976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3026664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163824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36976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55264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187952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325112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98264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16552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5349240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0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59552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snapshot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6510528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647688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20840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39128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 swap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7671816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808976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882128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00416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hashes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8833104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970264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043416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061704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Revalidate cache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9994392" y="2779776"/>
            <a:ext cx="118872" cy="0"/>
          </a:xfrm>
          <a:prstGeom prst="line">
            <a:avLst/>
          </a:prstGeom>
          <a:noFill/>
          <a:ln w="10160">
            <a:solidFill>
              <a:srgbClr val="5F718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131552" y="2395728"/>
            <a:ext cx="1024128" cy="768096"/>
          </a:xfrm>
          <a:prstGeom prst="roundRect">
            <a:avLst>
              <a:gd name="adj" fmla="val 14286"/>
            </a:avLst>
          </a:prstGeom>
          <a:solidFill>
            <a:srgbClr val="16263D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204704" y="250545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22992" y="277977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parity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530352" y="3941064"/>
            <a:ext cx="3474720" cy="1892808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95528" y="4233672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6A6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TRANSIENT FEED FAILURE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1248" y="4727448"/>
            <a:ext cx="2834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the last-known-good snapshot while it remains inside the approved maximum age.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4361688" y="3941064"/>
            <a:ext cx="3474720" cy="1892808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1016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626864" y="4233672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8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AGE EXCEEDED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72584" y="4727448"/>
            <a:ext cx="2834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 closed: inventory temporarily unavailable; preserve the general RFQ route.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8193024" y="3941064"/>
            <a:ext cx="3474720" cy="1892808"/>
          </a:xfrm>
          <a:prstGeom prst="roundRect">
            <a:avLst>
              <a:gd name="adj" fmla="val 5797"/>
            </a:avLst>
          </a:prstGeom>
          <a:solidFill>
            <a:srgbClr val="612631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458200" y="4233672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5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MALFORMED / EMPTY SNAPSHOT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4727448"/>
            <a:ext cx="2834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it. Never overwrite a valid non-empty snapshot without an explicit controlled override.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design, cache behavior and last-known-good failure policy.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DELIVERY ROADMAP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Six controlled phases with an exit gate at every step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execution order, not a speculative calendar estimate.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273552" cy="1984248"/>
          </a:xfrm>
          <a:prstGeom prst="roundRect">
            <a:avLst>
              <a:gd name="adj" fmla="val 5530"/>
            </a:avLst>
          </a:prstGeom>
          <a:solidFill>
            <a:srgbClr val="111D30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673352"/>
            <a:ext cx="438912" cy="43891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179222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53312" y="16733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Access + discovery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768096" y="2267712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repo, hosting, framework, deployment and Hub runtime.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768096" y="286207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645920" y="2825496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source and rollback identified.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4279392" y="1508760"/>
            <a:ext cx="3273552" cy="1984248"/>
          </a:xfrm>
          <a:prstGeom prst="roundRect">
            <a:avLst>
              <a:gd name="adj" fmla="val 5530"/>
            </a:avLst>
          </a:prstGeom>
          <a:solidFill>
            <a:srgbClr val="111D30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62272" y="1673352"/>
            <a:ext cx="438912" cy="43891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62272" y="179222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65776" y="16733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Inventory truth cleanup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4480560" y="2267712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candidates, verify proof, quantity, terms and freshness.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480560" y="286207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358384" y="2825496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launch item is one clear canonical record.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991856" y="1508760"/>
            <a:ext cx="3273552" cy="1984248"/>
          </a:xfrm>
          <a:prstGeom prst="roundRect">
            <a:avLst>
              <a:gd name="adj" fmla="val 5530"/>
            </a:avLst>
          </a:prstGeom>
          <a:solidFill>
            <a:srgbClr val="111D30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174736" y="1673352"/>
            <a:ext cx="438912" cy="438912"/>
          </a:xfrm>
          <a:prstGeom prst="ellipse">
            <a:avLst/>
          </a:prstGeom>
          <a:solidFill>
            <a:srgbClr val="36A66A"/>
          </a:solidFill>
          <a:ln w="1270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74736" y="179222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78240" y="16733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Public feed + publisher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8193024" y="2267712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Allowlist fields, validate schema, version snapshots, log diffs.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193024" y="286207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6A6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070848" y="2825496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prohibited field; two clean reproducible publishes.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566928" y="3803904"/>
            <a:ext cx="3273552" cy="1984248"/>
          </a:xfrm>
          <a:prstGeom prst="roundRect">
            <a:avLst>
              <a:gd name="adj" fmla="val 5530"/>
            </a:avLst>
          </a:prstGeom>
          <a:solidFill>
            <a:srgbClr val="111D30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9808" y="3968496"/>
            <a:ext cx="438912" cy="438912"/>
          </a:xfrm>
          <a:prstGeom prst="ellipse">
            <a:avLst/>
          </a:prstGeom>
          <a:solidFill>
            <a:srgbClr val="2C7EB7"/>
          </a:solidFill>
          <a:ln w="1270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9808" y="408736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53312" y="3968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Read-only API</a:t>
            </a:r>
            <a:endParaRPr lang="en-US" sz="1270" dirty="0"/>
          </a:p>
        </p:txBody>
      </p:sp>
      <p:sp>
        <p:nvSpPr>
          <p:cNvPr id="30" name="Text 28"/>
          <p:cNvSpPr/>
          <p:nvPr/>
        </p:nvSpPr>
        <p:spPr>
          <a:xfrm>
            <a:off x="768096" y="4562856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List/detail endpoints, cache, ETag, freshness and monitoring.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68096" y="5157216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C7E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645920" y="51206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Good, stale, empty, malformed and leak fixtures pass.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4279392" y="3803904"/>
            <a:ext cx="3273552" cy="1984248"/>
          </a:xfrm>
          <a:prstGeom prst="roundRect">
            <a:avLst>
              <a:gd name="adj" fmla="val 5530"/>
            </a:avLst>
          </a:prstGeom>
          <a:solidFill>
            <a:srgbClr val="111D30"/>
          </a:solidFill>
          <a:ln w="1016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462272" y="3968496"/>
            <a:ext cx="438912" cy="438912"/>
          </a:xfrm>
          <a:prstGeom prst="ellipse">
            <a:avLst/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62272" y="408736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65776" y="3968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Website + RFQ wiring</a:t>
            </a:r>
            <a:endParaRPr lang="en-US" sz="1270" dirty="0"/>
          </a:p>
        </p:txBody>
      </p:sp>
      <p:sp>
        <p:nvSpPr>
          <p:cNvPr id="37" name="Text 35"/>
          <p:cNvSpPr/>
          <p:nvPr/>
        </p:nvSpPr>
        <p:spPr>
          <a:xfrm>
            <a:off x="4480560" y="4562856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Catalog, detail, filters, RFQ, counters, JSON-LD and mobile QA.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480560" y="5157216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D6D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5358384" y="51206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Feed, API and site records match exactly.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7991856" y="3803904"/>
            <a:ext cx="3273552" cy="1984248"/>
          </a:xfrm>
          <a:prstGeom prst="roundRect">
            <a:avLst>
              <a:gd name="adj" fmla="val 5530"/>
            </a:avLst>
          </a:prstGeom>
          <a:solidFill>
            <a:srgbClr val="111D30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174736" y="3968496"/>
            <a:ext cx="438912" cy="43891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174736" y="408736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778240" y="3968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Release + stabilization</a:t>
            </a:r>
            <a:endParaRPr lang="en-US" sz="1270" dirty="0"/>
          </a:p>
        </p:txBody>
      </p:sp>
      <p:sp>
        <p:nvSpPr>
          <p:cNvPr id="44" name="Text 42"/>
          <p:cNvSpPr/>
          <p:nvPr/>
        </p:nvSpPr>
        <p:spPr>
          <a:xfrm>
            <a:off x="8193024" y="4562856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Stage, promote, verify live pages, rollback and repeatability.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8193024" y="5157216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GATE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9070848" y="51206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Critical/Major defects; rollback proven.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phases and exit gates from the implementation-ready master gameplan.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RELEASE GATES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Fifteen acceptance tests grouped into five control pillars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is not complete until the live system passes all gates and two clean repeatability runs.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9768" y="1572768"/>
            <a:ext cx="2057400" cy="4233672"/>
          </a:xfrm>
          <a:prstGeom prst="roundRect">
            <a:avLst>
              <a:gd name="adj" fmla="val 5333"/>
            </a:avLst>
          </a:prstGeom>
          <a:solidFill>
            <a:srgbClr val="111D30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810512"/>
            <a:ext cx="1728216" cy="329184"/>
          </a:xfrm>
          <a:prstGeom prst="roundRect">
            <a:avLst>
              <a:gd name="adj" fmla="val 33333"/>
            </a:avLst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4088" y="189280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PARITY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30936" y="2432304"/>
            <a:ext cx="228600" cy="228600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1228" y="2555748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22376" y="2596896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50976" y="24140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AT-01 Feed/API/site counts match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30936" y="3099816"/>
            <a:ext cx="228600" cy="228600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1228" y="3223260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22376" y="3264408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0976" y="3081528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AT-04 Duplicate source rows publish once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596896" y="1572768"/>
            <a:ext cx="2212848" cy="4233672"/>
          </a:xfrm>
          <a:prstGeom prst="roundRect">
            <a:avLst>
              <a:gd name="adj" fmla="val 4959"/>
            </a:avLst>
          </a:prstGeom>
          <a:solidFill>
            <a:srgbClr val="111D30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761488" y="1810512"/>
            <a:ext cx="1883664" cy="329184"/>
          </a:xfrm>
          <a:prstGeom prst="roundRect">
            <a:avLst>
              <a:gd name="adj" fmla="val 33333"/>
            </a:avLst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871216" y="189280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+ APPROVAL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798064" y="2432304"/>
            <a:ext cx="228600" cy="228600"/>
          </a:xfrm>
          <a:prstGeom prst="ellipse">
            <a:avLst/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848356" y="2555748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889504" y="2596896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118104" y="24140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AT-02 No private fields reach API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798064" y="3099816"/>
            <a:ext cx="228600" cy="228600"/>
          </a:xfrm>
          <a:prstGeom prst="ellipse">
            <a:avLst/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848356" y="3223260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889504" y="3264408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118104" y="30815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AT-03 Missing gate blocks publish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798064" y="3767328"/>
            <a:ext cx="228600" cy="228600"/>
          </a:xfrm>
          <a:prstGeom prst="ellipse">
            <a:avLst/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848356" y="3890772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889504" y="3931920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118104" y="37490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AT-13 Secrets absent; limits enforced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919472" y="1572768"/>
            <a:ext cx="2212848" cy="4233672"/>
          </a:xfrm>
          <a:prstGeom prst="roundRect">
            <a:avLst>
              <a:gd name="adj" fmla="val 4959"/>
            </a:avLst>
          </a:prstGeom>
          <a:solidFill>
            <a:srgbClr val="111D30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084064" y="1810512"/>
            <a:ext cx="1883664" cy="329184"/>
          </a:xfrm>
          <a:prstGeom prst="roundRect">
            <a:avLst>
              <a:gd name="adj" fmla="val 33333"/>
            </a:avLst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193792" y="189280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+ LIFECYCLE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120640" y="2432304"/>
            <a:ext cx="228600" cy="228600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170932" y="2555748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212080" y="2596896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40680" y="24140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AT-05 Sold/withdrawn disappears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120640" y="3099816"/>
            <a:ext cx="228600" cy="228600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170932" y="3223260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212080" y="3264408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440680" y="30815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AT-06 Stale transitions and unpublishes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7242048" y="1572768"/>
            <a:ext cx="2395728" cy="4233672"/>
          </a:xfrm>
          <a:prstGeom prst="roundRect">
            <a:avLst>
              <a:gd name="adj" fmla="val 4580"/>
            </a:avLst>
          </a:prstGeom>
          <a:solidFill>
            <a:srgbClr val="111D30"/>
          </a:solidFill>
          <a:ln w="1016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406640" y="1810512"/>
            <a:ext cx="2066544" cy="329184"/>
          </a:xfrm>
          <a:prstGeom prst="roundRect">
            <a:avLst>
              <a:gd name="adj" fmla="val 33333"/>
            </a:avLst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516368" y="189280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 + RECOVERY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443216" y="2432304"/>
            <a:ext cx="228600" cy="228600"/>
          </a:xfrm>
          <a:prstGeom prst="ellipse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493508" y="2555748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534656" y="2596896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763256" y="2414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AT-07 Malformed snapshot rejected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443216" y="3099816"/>
            <a:ext cx="228600" cy="228600"/>
          </a:xfrm>
          <a:prstGeom prst="ellipse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493508" y="3223260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534656" y="3264408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763256" y="30815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AT-08 Empty overwrite blocked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7443216" y="3767328"/>
            <a:ext cx="228600" cy="228600"/>
          </a:xfrm>
          <a:prstGeom prst="ellipse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493508" y="3890772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534656" y="3931920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763256" y="37490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AT-09 Signed cache revalidation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7443216" y="4434840"/>
            <a:ext cx="228600" cy="228600"/>
          </a:xfrm>
          <a:prstGeom prst="ellipse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93508" y="4558284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534656" y="4599432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763256" y="441655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AT-14 Rollback succeeds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443216" y="5102352"/>
            <a:ext cx="228600" cy="228600"/>
          </a:xfrm>
          <a:prstGeom prst="ellipse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493508" y="5225796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534656" y="5266944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763256" y="50840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AT-15 Two clean runs reproduce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9747504" y="1572768"/>
            <a:ext cx="2057400" cy="4233672"/>
          </a:xfrm>
          <a:prstGeom prst="roundRect">
            <a:avLst>
              <a:gd name="adj" fmla="val 5333"/>
            </a:avLst>
          </a:prstGeom>
          <a:solidFill>
            <a:srgbClr val="111D30"/>
          </a:solidFill>
          <a:ln w="1016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9912096" y="1810512"/>
            <a:ext cx="1728216" cy="329184"/>
          </a:xfrm>
          <a:prstGeom prst="roundRect">
            <a:avLst>
              <a:gd name="adj" fmla="val 33333"/>
            </a:avLst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0021824" y="189280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EXPERIENCE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9948672" y="2432304"/>
            <a:ext cx="228600" cy="228600"/>
          </a:xfrm>
          <a:prstGeom prst="ellipse">
            <a:avLst/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9998964" y="2555748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0040112" y="2596896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10268712" y="24140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AT-10 RFQ preserves identity/version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9948672" y="3099816"/>
            <a:ext cx="228600" cy="228600"/>
          </a:xfrm>
          <a:prstGeom prst="ellipse">
            <a:avLst/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9998964" y="3223260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10040112" y="3264408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10268712" y="3081528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AT-11 JSON-LD matches visible data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9948672" y="3767328"/>
            <a:ext cx="228600" cy="228600"/>
          </a:xfrm>
          <a:prstGeom prst="ellipse">
            <a:avLst/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9998964" y="3890772"/>
            <a:ext cx="45720" cy="45720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10040112" y="3931920"/>
            <a:ext cx="91440" cy="-107442"/>
          </a:xfrm>
          <a:prstGeom prst="line">
            <a:avLst/>
          </a:prstGeom>
          <a:noFill/>
          <a:ln w="13335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0268712" y="374904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AT-12 Claims are source-backed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3611880" y="5916168"/>
            <a:ext cx="4956048" cy="256032"/>
          </a:xfrm>
          <a:prstGeom prst="roundRect">
            <a:avLst>
              <a:gd name="adj" fmla="val 28571"/>
            </a:avLst>
          </a:prstGeom>
          <a:solidFill>
            <a:srgbClr val="16263D"/>
          </a:solidFill>
          <a:ln w="762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794760" y="5989320"/>
            <a:ext cx="4590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threshold: 0 Critical defects • 0 Major defects • rollback proven • two clean runs</a:t>
            </a:r>
            <a:endParaRPr lang="en-US" sz="770" dirty="0"/>
          </a:p>
        </p:txBody>
      </p:sp>
      <p:sp>
        <p:nvSpPr>
          <p:cNvPr id="82" name="Text 80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 test matrix AT-01 through AT-15.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OPERATING MODEL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Clear ownership keeps inventory accurate after launch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needs daily freshness discipline, not only a one-time integration.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5669280" cy="4462272"/>
          </a:xfrm>
          <a:prstGeom prst="roundRect">
            <a:avLst>
              <a:gd name="adj" fmla="val 2459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73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Ownership matrix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" y="2258568"/>
            <a:ext cx="5212080" cy="393192"/>
          </a:xfrm>
          <a:prstGeom prst="rect">
            <a:avLst/>
          </a:prstGeom>
          <a:solidFill>
            <a:srgbClr val="16263D">
              <a:alpha val="80000"/>
            </a:srgbClr>
          </a:solidFill>
          <a:ln w="12700">
            <a:solidFill>
              <a:srgbClr val="16263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3042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intake + proof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3584448" y="23042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/ Receiving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914400" y="27523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confirmation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3584448" y="2752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68096" y="3154680"/>
            <a:ext cx="5212080" cy="393192"/>
          </a:xfrm>
          <a:prstGeom prst="rect">
            <a:avLst/>
          </a:prstGeom>
          <a:solidFill>
            <a:srgbClr val="16263D">
              <a:alpha val="80000"/>
            </a:srgbClr>
          </a:solidFill>
          <a:ln w="12700">
            <a:solidFill>
              <a:srgbClr val="16263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2004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Price, MOQ + freight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3584448" y="32004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leadership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914400" y="36484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approval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584448" y="36484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/ delegate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68096" y="4050792"/>
            <a:ext cx="5212080" cy="393192"/>
          </a:xfrm>
          <a:prstGeom prst="rect">
            <a:avLst/>
          </a:prstGeom>
          <a:solidFill>
            <a:srgbClr val="16263D">
              <a:alpha val="80000"/>
            </a:srgbClr>
          </a:solidFill>
          <a:ln w="12700">
            <a:solidFill>
              <a:srgbClr val="16263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0965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Publisher + API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3584448" y="40965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14400" y="45445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+ RFQ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584448" y="45445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/ Sales Ops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68096" y="4946904"/>
            <a:ext cx="5212080" cy="393192"/>
          </a:xfrm>
          <a:prstGeom prst="rect">
            <a:avLst/>
          </a:prstGeom>
          <a:solidFill>
            <a:srgbClr val="16263D">
              <a:alpha val="80000"/>
            </a:srgbClr>
          </a:solidFill>
          <a:ln w="12700">
            <a:solidFill>
              <a:srgbClr val="16263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49926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exceptions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3584448" y="49926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Ops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914400" y="54406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evidence + rollback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584448" y="54406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owner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446520" y="1490472"/>
            <a:ext cx="5212080" cy="4462272"/>
          </a:xfrm>
          <a:prstGeom prst="roundRect">
            <a:avLst>
              <a:gd name="adj" fmla="val 2459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39128" y="17739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dashboard KPIs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57416" y="2331720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83A5C"/>
          </a:solidFill>
          <a:ln w="12700">
            <a:solidFill>
              <a:srgbClr val="183A5C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30568" y="2418588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active deals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089136" y="2331720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162288" y="2418588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Publish-approved deals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57416" y="2862072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332E5C"/>
          </a:solidFill>
          <a:ln w="12700">
            <a:solidFill>
              <a:srgbClr val="332E5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830568" y="2948940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D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deals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89136" y="2862072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83A5C"/>
          </a:solidFill>
          <a:ln w="12700">
            <a:solidFill>
              <a:srgbClr val="183A5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62288" y="2948940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Feed/API/site parity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757416" y="3392424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30568" y="347929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proof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089136" y="3392424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332E5C"/>
          </a:solidFill>
          <a:ln w="12700">
            <a:solidFill>
              <a:srgbClr val="332E5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162288" y="347929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D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live availability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57416" y="3922776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83A5C"/>
          </a:solidFill>
          <a:ln w="12700">
            <a:solidFill>
              <a:srgbClr val="183A5C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830568" y="4009644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 published records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089136" y="3922776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162288" y="4009644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 awaiting linkage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757416" y="4453128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332E5C"/>
          </a:solidFill>
          <a:ln w="12700">
            <a:solidFill>
              <a:srgbClr val="332E5C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830568" y="453999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D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success + latency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089136" y="4453128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83A5C"/>
          </a:solidFill>
          <a:ln w="12700">
            <a:solidFill>
              <a:srgbClr val="183A5C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162288" y="453999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publish / sync / revalidate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757416" y="4983480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164E48"/>
          </a:solidFill>
          <a:ln w="12700">
            <a:solidFill>
              <a:srgbClr val="164E48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830568" y="5070348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RFQs by Deal ID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089136" y="4983480"/>
            <a:ext cx="2148840" cy="338328"/>
          </a:xfrm>
          <a:prstGeom prst="roundRect">
            <a:avLst>
              <a:gd name="adj" fmla="val 32432"/>
            </a:avLst>
          </a:prstGeom>
          <a:solidFill>
            <a:srgbClr val="332E5C"/>
          </a:solidFill>
          <a:ln w="12700">
            <a:solidFill>
              <a:srgbClr val="332E5C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162288" y="5070348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BD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variance + holds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 model and ongoing KPI set from the master gameplan.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EXECUTION PREREQUISITES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packet is ready; production access is the remaining blocker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deployment claim is valid until the repository, runtime and live release are inspected.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90472"/>
            <a:ext cx="7360920" cy="4407408"/>
          </a:xfrm>
          <a:prstGeom prst="roundRect">
            <a:avLst>
              <a:gd name="adj" fmla="val 2490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9536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Exact access required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" y="2276856"/>
            <a:ext cx="310896" cy="310896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23591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53312" y="22585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repository or deployment project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096512" y="225856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current product model, RFQ persistence and build/deploy path.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877824" y="2852928"/>
            <a:ext cx="310896" cy="310896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7824" y="29352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53312" y="2834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/ staging access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096512" y="28346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server secrets, stage safely and verify rollback.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877824" y="3429000"/>
            <a:ext cx="310896" cy="310896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7824" y="351129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53312" y="3410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SalesMax Hub runtime or database read access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096512" y="341071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the real canonical data source and existing connector.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77824" y="4005072"/>
            <a:ext cx="310896" cy="310896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7824" y="408736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353312" y="39867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 to create the separate public feed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096512" y="398678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only with publisher and storefront identities.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877824" y="4581144"/>
            <a:ext cx="310896" cy="310896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7824" y="46634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53312" y="45628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product images and public terms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096512" y="456285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Price/RFQ mode, MOQ, freight, condition and inspection terms.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77824" y="5157216"/>
            <a:ext cx="310896" cy="310896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7824" y="52395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53312" y="51389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inventory confirmation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096512" y="513892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which deals are truly current at launch review.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174736" y="1490472"/>
            <a:ext cx="3493008" cy="4407408"/>
          </a:xfrm>
          <a:prstGeom prst="roundRect">
            <a:avLst>
              <a:gd name="adj" fmla="val 3141"/>
            </a:avLst>
          </a:prstGeom>
          <a:solidFill>
            <a:srgbClr val="16263D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485632" y="1783080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595360" y="186537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485632" y="24505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85632" y="2788920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READY</a:t>
            </a:r>
            <a:endParaRPr lang="en-US" sz="3100" dirty="0"/>
          </a:p>
        </p:txBody>
      </p:sp>
      <p:sp>
        <p:nvSpPr>
          <p:cNvPr id="36" name="Text 34"/>
          <p:cNvSpPr/>
          <p:nvPr/>
        </p:nvSpPr>
        <p:spPr>
          <a:xfrm>
            <a:off x="8485632" y="369417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85632" y="404164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5B6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NOT DEPLOYED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485632" y="4965192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Next controlled action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41080" y="535838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 repo + runtime → execute Phase 0 discovery and rollback proof.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blocker: website repository, SalesMax runtime/database and hosting were not available in-session.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DEFINITION OF DONE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Engineering handoff is ready - completion remains evidence-based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complete only after the live deployment satisfies every release criterion.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90472"/>
            <a:ext cx="6629400" cy="4407408"/>
          </a:xfrm>
          <a:prstGeom prst="roundRect">
            <a:avLst>
              <a:gd name="adj" fmla="val 2490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Definition of done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" y="2276856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5863" y="241511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61949" y="246119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43584" y="2267712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displayed product maps to one approved canonical Deal ID.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859536" y="2679192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15863" y="281744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61949" y="286353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43584" y="2670048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public API contains only buyer-safe fields.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59536" y="3081528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5863" y="321978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1949" y="326587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43584" y="3072384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Sold, stale and withdrawn inventory is removed predictably.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59536" y="3483864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5863" y="362212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61949" y="366820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43584" y="3474720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counters and commercial terms are source-backed.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859536" y="3886200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5863" y="4024457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61949" y="4070543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43584" y="3877056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RFQs preserve Deal ID and source version.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59536" y="4288536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15863" y="442679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61949" y="447287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243584" y="4279392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Feed, API and website counts match.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59536" y="4690872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15863" y="482912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1949" y="487521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243584" y="4681728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freshness, failure and rollback tests pass.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59536" y="5093208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15863" y="523146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61949" y="527755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43584" y="5084064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clean end-to-end publish runs reproduce the result.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59536" y="5495544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15863" y="563380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61949" y="567988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243584" y="5486400"/>
            <a:ext cx="551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live production site is verified after deployment.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7443216" y="1490472"/>
            <a:ext cx="4206240" cy="4407408"/>
          </a:xfrm>
          <a:prstGeom prst="roundRect">
            <a:avLst>
              <a:gd name="adj" fmla="val 2609"/>
            </a:avLst>
          </a:prstGeom>
          <a:solidFill>
            <a:srgbClr val="16263D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744968" y="17739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Full packet contents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44968" y="225856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8165592" y="22585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brief</a:t>
            </a:r>
            <a:endParaRPr lang="en-US" sz="770" dirty="0"/>
          </a:p>
        </p:txBody>
      </p:sp>
      <p:sp>
        <p:nvSpPr>
          <p:cNvPr id="47" name="Text 45"/>
          <p:cNvSpPr/>
          <p:nvPr/>
        </p:nvSpPr>
        <p:spPr>
          <a:xfrm>
            <a:off x="9528048" y="22585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+ editable PowerPoint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7744968" y="26426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8165592" y="26426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gameplan</a:t>
            </a:r>
            <a:endParaRPr lang="en-US" sz="770" dirty="0"/>
          </a:p>
        </p:txBody>
      </p:sp>
      <p:sp>
        <p:nvSpPr>
          <p:cNvPr id="50" name="Text 48"/>
          <p:cNvSpPr/>
          <p:nvPr/>
        </p:nvSpPr>
        <p:spPr>
          <a:xfrm>
            <a:off x="9528048" y="26426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implementation specification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7744968" y="30266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8165592" y="302666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+ readiness</a:t>
            </a:r>
            <a:endParaRPr lang="en-US" sz="770" dirty="0"/>
          </a:p>
        </p:txBody>
      </p:sp>
      <p:sp>
        <p:nvSpPr>
          <p:cNvPr id="53" name="Text 51"/>
          <p:cNvSpPr/>
          <p:nvPr/>
        </p:nvSpPr>
        <p:spPr>
          <a:xfrm>
            <a:off x="9528048" y="30266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system and current audit visuals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7744968" y="341071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8165592" y="341071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+ OpenAPI</a:t>
            </a:r>
            <a:endParaRPr lang="en-US" sz="770" dirty="0"/>
          </a:p>
        </p:txBody>
      </p:sp>
      <p:sp>
        <p:nvSpPr>
          <p:cNvPr id="56" name="Text 54"/>
          <p:cNvSpPr/>
          <p:nvPr/>
        </p:nvSpPr>
        <p:spPr>
          <a:xfrm>
            <a:off x="9528048" y="3410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standard contract; unrelated to OpenAI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7744968" y="37947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8165592" y="37947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prompt</a:t>
            </a:r>
            <a:endParaRPr lang="en-US" sz="770" dirty="0"/>
          </a:p>
        </p:txBody>
      </p:sp>
      <p:sp>
        <p:nvSpPr>
          <p:cNvPr id="59" name="Text 57"/>
          <p:cNvSpPr/>
          <p:nvPr/>
        </p:nvSpPr>
        <p:spPr>
          <a:xfrm>
            <a:off x="9528048" y="3794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engineer / automation handoff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7744968" y="4178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8165592" y="417880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+ rollback</a:t>
            </a:r>
            <a:endParaRPr lang="en-US" sz="770" dirty="0"/>
          </a:p>
        </p:txBody>
      </p:sp>
      <p:sp>
        <p:nvSpPr>
          <p:cNvPr id="62" name="Text 60"/>
          <p:cNvSpPr/>
          <p:nvPr/>
        </p:nvSpPr>
        <p:spPr>
          <a:xfrm>
            <a:off x="9528048" y="4178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checklist and recovery runbook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7744968" y="45628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07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165592" y="456285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 + field map</a:t>
            </a:r>
            <a:endParaRPr lang="en-US" sz="770" dirty="0"/>
          </a:p>
        </p:txBody>
      </p:sp>
      <p:sp>
        <p:nvSpPr>
          <p:cNvPr id="65" name="Text 63"/>
          <p:cNvSpPr/>
          <p:nvPr/>
        </p:nvSpPr>
        <p:spPr>
          <a:xfrm>
            <a:off x="9528048" y="45628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AT-01–AT-15 and privacy map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7744968" y="49469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08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8165592" y="49469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+ evidence controls</a:t>
            </a:r>
            <a:endParaRPr lang="en-US" sz="770" dirty="0"/>
          </a:p>
        </p:txBody>
      </p:sp>
      <p:sp>
        <p:nvSpPr>
          <p:cNvPr id="68" name="Text 66"/>
          <p:cNvSpPr/>
          <p:nvPr/>
        </p:nvSpPr>
        <p:spPr>
          <a:xfrm>
            <a:off x="9528048" y="49469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Rules, fixtures, validator, freshness and release record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7744968" y="5330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09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8165592" y="533095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+ integrity</a:t>
            </a:r>
            <a:endParaRPr lang="en-US" sz="770" dirty="0"/>
          </a:p>
        </p:txBody>
      </p:sp>
      <p:sp>
        <p:nvSpPr>
          <p:cNvPr id="71" name="Text 69"/>
          <p:cNvSpPr/>
          <p:nvPr/>
        </p:nvSpPr>
        <p:spPr>
          <a:xfrm>
            <a:off x="9528048" y="5330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Research, change log and SHA-256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7744968" y="5532120"/>
            <a:ext cx="3529584" cy="246888"/>
          </a:xfrm>
          <a:prstGeom prst="roundRect">
            <a:avLst>
              <a:gd name="adj" fmla="val 29630"/>
            </a:avLst>
          </a:prstGeom>
          <a:solidFill>
            <a:srgbClr val="133A36"/>
          </a:solidFill>
          <a:ln w="762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909560" y="560527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ENGINEERING HANDOFF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status: open-source visual and technical packet verified; production execution begins with repository/runtime access.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OPEN-SOURCE DECISION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 proprietary AI or hosted LLM in the inventory path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is deterministic, evidence-based and self-hostable.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3703320" cy="4526280"/>
          </a:xfrm>
          <a:prstGeom prst="roundRect">
            <a:avLst>
              <a:gd name="adj" fmla="val 2963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737360"/>
            <a:ext cx="1682496" cy="329184"/>
          </a:xfrm>
          <a:prstGeom prst="roundRect">
            <a:avLst>
              <a:gd name="adj" fmla="val 33333"/>
            </a:avLst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8196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77824" y="2340864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 LLM REQUIRED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32688" y="3072384"/>
            <a:ext cx="2944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model sets quantity, availability, price, approval, hold, publication or deployment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4663440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133A36"/>
          </a:solidFill>
          <a:ln w="889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52144" y="473659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B7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+ AUDITABLE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535424" y="1444752"/>
            <a:ext cx="7095744" cy="4526280"/>
          </a:xfrm>
          <a:prstGeom prst="roundRect">
            <a:avLst>
              <a:gd name="adj" fmla="val 2424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28032" y="1792224"/>
            <a:ext cx="6473952" cy="82296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19476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OpenAPI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0256" y="1920240"/>
            <a:ext cx="4379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Open, vendor-neutral API description standard - unrelated to OpenAI.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828032" y="2779776"/>
            <a:ext cx="6473952" cy="82296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29352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Publication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0256" y="2907792"/>
            <a:ext cx="4379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Schema, explicit approvals, source evidence, freshness and privacy allowlist.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828032" y="3767328"/>
            <a:ext cx="6473952" cy="82296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1016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392277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Optional future 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0256" y="3895344"/>
            <a:ext cx="4379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and advisory only after separate license/security approval.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828032" y="4754880"/>
            <a:ext cx="6473952" cy="82296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1016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0" y="491032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0256" y="4882896"/>
            <a:ext cx="4379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OSI-approved licenses, exact pins, immutable digests, SBOM and rollback.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artifacts: no-proprietary-AI policy, OpenAPI clarification, license register and SPDX SBOM.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OPEN-SOURCE RUNTIME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Production target is self-hostable; the included runnable mode is deliberately single-process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open-source website components may remain after Phase 0 inspection.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11375136" cy="4800600"/>
          </a:xfrm>
          <a:prstGeom prst="roundRect">
            <a:avLst>
              <a:gd name="adj" fmla="val 2286"/>
            </a:avLst>
          </a:prstGeom>
          <a:solidFill>
            <a:srgbClr val="0D192A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mnt/data/PSE_SalesMax_Inventory_Wiring_OPEN_SOURCE_SUPER_GAUNTLET_v4.0/01_EXECUTIVE/07_OPEN_SOURCE_RUNTIM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1113739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target: PostgreSQL + Python/FastAPI + Valkey + Caddy + Prometheus/Alertmanager/Perses. Preview services require adapter gates.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SUPER GAUNTLET LOOP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Every material change must survive the complete release loop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polished file is not accepted without behavioral, adversarial, visual and clean-room evidence.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4088" y="1645920"/>
            <a:ext cx="393192" cy="39319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4088" y="173736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07008" y="1618488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SOURCE 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157984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 current evidence, rules and truth boundary.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456432" y="1481328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11880" y="1645920"/>
            <a:ext cx="393192" cy="39319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11880" y="173736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0" y="1618488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CONTRACT TESTS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21024" y="2157984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Schemas, examples, API refs, pricing and freshness.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364224" y="1481328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19672" y="1645920"/>
            <a:ext cx="393192" cy="393192"/>
          </a:xfrm>
          <a:prstGeom prst="ellipse">
            <a:avLst/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9672" y="173736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22592" y="1618488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ADVERSARIAL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28816" y="2157984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Private-field, timestamp, URL, ID, price and replay mutations.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272016" y="1481328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427464" y="1645920"/>
            <a:ext cx="393192" cy="393192"/>
          </a:xfrm>
          <a:prstGeom prst="ellipse">
            <a:avLst/>
          </a:prstGeom>
          <a:solidFill>
            <a:srgbClr val="36A66A"/>
          </a:solidFill>
          <a:ln w="1270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27464" y="173736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930384" y="1618488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RECOVERY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36608" y="2157984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 promotion, last-known-good, restore and rollback.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48640" y="3822192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04088" y="3986784"/>
            <a:ext cx="393192" cy="393192"/>
          </a:xfrm>
          <a:prstGeom prst="ellipse">
            <a:avLst/>
          </a:prstGeom>
          <a:solidFill>
            <a:srgbClr val="7D6DD1"/>
          </a:solidFill>
          <a:ln w="12700">
            <a:solidFill>
              <a:srgbClr val="7D6DD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4088" y="4078224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07008" y="39593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VISUAL QA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4498848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every slide/page; inspect clipping, fonts and parity.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456432" y="3822192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611880" y="3986784"/>
            <a:ext cx="393192" cy="393192"/>
          </a:xfrm>
          <a:prstGeom prst="ellipse">
            <a:avLst/>
          </a:prstGeom>
          <a:solidFill>
            <a:srgbClr val="E88C4A"/>
          </a:solidFill>
          <a:ln w="12700">
            <a:solidFill>
              <a:srgbClr val="E88C4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611880" y="4078224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0" y="39593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21024" y="4498848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 scan, exact pins, SBOM, secrets and integrity.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364224" y="3822192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519672" y="3986784"/>
            <a:ext cx="393192" cy="393192"/>
          </a:xfrm>
          <a:prstGeom prst="ellipse">
            <a:avLst/>
          </a:prstGeom>
          <a:solidFill>
            <a:srgbClr val="2C7EB7"/>
          </a:solidFill>
          <a:ln w="12700">
            <a:solidFill>
              <a:srgbClr val="2C7EB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19672" y="4078224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22592" y="39593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CLEAN ROOM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28816" y="4498848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independent extraction-and-run validations.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9272016" y="3822192"/>
            <a:ext cx="2395728" cy="1700784"/>
          </a:xfrm>
          <a:prstGeom prst="roundRect">
            <a:avLst>
              <a:gd name="adj" fmla="val 6452"/>
            </a:avLst>
          </a:prstGeom>
          <a:solidFill>
            <a:srgbClr val="111D30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427464" y="3986784"/>
            <a:ext cx="393192" cy="39319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427464" y="4078224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930384" y="39593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RELEASE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436608" y="4498848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Evidence-backed status; production blockers remain honest.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Executable entry point: 07_GAUNTLET/run_super_gauntlet.py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FA7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RELEASE STATUS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57784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Open-source packet ready for engineering - production remains access-gated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1498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completion claim is made for the undeployed live website.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16263D"/>
          </a:solidFill>
          <a:ln w="1016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572768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4B7A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138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0482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tests across three suites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13232" y="2331720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Publisher, runnable API, deployment, browser module and policy.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3172968" y="1481328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16263D"/>
          </a:solidFill>
          <a:ln w="10160">
            <a:solidFill>
              <a:srgbClr val="36A6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19272" y="1572768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6A66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19272" y="20482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AI dependencies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319272" y="2331720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OpenAI SDK, API key, endpoint or hosted LLM.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5779008" y="1481328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16263D"/>
          </a:solidFill>
          <a:ln w="1016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25312" y="1572768"/>
            <a:ext cx="2130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A7C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25312" y="20482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Slides / PDF pages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5925312" y="2331720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presentation and rendered executive brief.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8385048" y="1481328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16263D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31352" y="1572768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15B6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BLOCKED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31352" y="204825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completion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531352" y="2331720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8F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repo, host, SalesMax runtime and live acceptance.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66928" y="2926080"/>
            <a:ext cx="6675120" cy="2834640"/>
          </a:xfrm>
          <a:prstGeom prst="roundRect">
            <a:avLst>
              <a:gd name="adj" fmla="val 3871"/>
            </a:avLst>
          </a:prstGeom>
          <a:solidFill>
            <a:srgbClr val="111D30"/>
          </a:solidFill>
          <a:ln w="10160">
            <a:solidFill>
              <a:srgbClr val="36506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Packet release gates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7824" y="3694176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34151" y="383243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80237" y="387851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61872" y="3685032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 and examples validate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77824" y="4023360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34151" y="4161617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80237" y="4207703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261872" y="4014216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and stale-data mutations fail closed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77824" y="4352544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34151" y="4490801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80237" y="4536887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261872" y="4343400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 promotion and rollback pass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77824" y="4681728"/>
            <a:ext cx="256032" cy="256032"/>
          </a:xfrm>
          <a:prstGeom prst="ellipse">
            <a:avLst/>
          </a:prstGeom>
          <a:solidFill>
            <a:srgbClr val="1FA7C9"/>
          </a:solidFill>
          <a:ln w="12700">
            <a:solidFill>
              <a:srgbClr val="1FA7C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34151" y="4819985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80237" y="4866071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61872" y="467258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license/SBOM controls present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77824" y="5010912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34151" y="5149169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80237" y="5195255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261872" y="5001768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proprietary-AI runtime indicators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877824" y="5340096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34151" y="5478353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80237" y="5524439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261872" y="5330952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PDF/PPTX parity and visual QA pass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877824" y="5669280"/>
            <a:ext cx="256032" cy="256032"/>
          </a:xfrm>
          <a:prstGeom prst="ellipse">
            <a:avLst/>
          </a:prstGeom>
          <a:solidFill>
            <a:srgbClr val="24B7A5"/>
          </a:solidFill>
          <a:ln w="12700">
            <a:solidFill>
              <a:srgbClr val="24B7A5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34151" y="5807537"/>
            <a:ext cx="51206" cy="51206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80237" y="5853623"/>
            <a:ext cx="102413" cy="-120335"/>
          </a:xfrm>
          <a:prstGeom prst="line">
            <a:avLst/>
          </a:prstGeom>
          <a:noFill/>
          <a:ln w="15240">
            <a:solidFill>
              <a:srgbClr val="08111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261872" y="5660136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Manifest, SHA-256 and clean-room runs pass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7498080" y="2926080"/>
            <a:ext cx="4133088" cy="2834640"/>
          </a:xfrm>
          <a:prstGeom prst="roundRect">
            <a:avLst>
              <a:gd name="adj" fmla="val 3871"/>
            </a:avLst>
          </a:prstGeom>
          <a:solidFill>
            <a:srgbClr val="16263D"/>
          </a:solidFill>
          <a:ln w="1016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08976" y="3236976"/>
            <a:ext cx="1554480" cy="329184"/>
          </a:xfrm>
          <a:prstGeom prst="roundRect">
            <a:avLst>
              <a:gd name="adj" fmla="val 33333"/>
            </a:avLst>
          </a:prstGeom>
          <a:solidFill>
            <a:srgbClr val="E15B64"/>
          </a:solidFill>
          <a:ln w="12700">
            <a:solidFill>
              <a:srgbClr val="E15B64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18704" y="3319272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GATE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7808976" y="387705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6F8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PHASE 0</a:t>
            </a:r>
            <a:endParaRPr lang="en-US" sz="2300" dirty="0"/>
          </a:p>
        </p:txBody>
      </p:sp>
      <p:sp>
        <p:nvSpPr>
          <p:cNvPr id="55" name="Text 53"/>
          <p:cNvSpPr/>
          <p:nvPr/>
        </p:nvSpPr>
        <p:spPr>
          <a:xfrm>
            <a:off x="8028432" y="4498848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 repository and runtime, prove backup/restore and deployment rollback, then run staging and production acceptance.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2920" y="6236208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5F71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 status and production status are intentionally separate.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F90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PSE Distribution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 x SalesMax Inventory Wiring - Executive Visual Packet</dc:title>
  <dc:subject>Inventory wiring master implementation packet</dc:subject>
  <dc:creator>PSE Distribution / SalesMax</dc:creator>
  <cp:lastModifiedBy>PSE Distribution / SalesMax</cp:lastModifiedBy>
  <cp:revision>1</cp:revision>
  <dcterms:created xsi:type="dcterms:W3CDTF">2026-08-03T23:26:13Z</dcterms:created>
  <dcterms:modified xsi:type="dcterms:W3CDTF">2026-08-03T23:26:13Z</dcterms:modified>
</cp:coreProperties>
</file>